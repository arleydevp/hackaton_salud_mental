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Imaginen que esta noche alguien en Villavicencio decide, por fin, pedir ayuda. Abre el celular, escribe «línea de salud mental Villavicencio» y aparecen tres números. Marca el primero: no contesta. El segundo es de Bogotá. El tercero le pide una clave que no tiene. A once de la noche, con todo el valor que le costó dar ese paso, cierra el celular y no vuelve a intentarlo.
&gt;&gt; MOSTRAR: nada todavía. Dejar que el título respire unos segundos antes de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 escenario no es hipotético. En salud mental, un dato equivocado no es un error de interfaz: es una puerta que se cierra en el peor momento.
Y el problema no es que falten servicios. En el Meta existen líneas reales y centros reales. El problema es que la información vive dispersa: PDFs que cambian de nombre, páginas institucionales con URLs que se mueven, directorios que mezclan líneas nacionales con locales y grupos de WhatsApp. Quien está en crisis es la última persona con tiempo para hacer curaduría de información.
Nosotros arrancamos con una regla incómoda: si no está verificado, no se publica. Y no la dejamos escrita en un manifiesto: la metimos dentro del código.
&gt;&gt; MOSTRAR: nada en vivo aún. Esta lámina se narra, no se lee.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 escenario no es hipotético. En salud mental, un dato equivocado no es un error de interfaz: es una puerta que se cierra en el peor momento.
Y el problema no es que falten servicios. En el Meta existen líneas reales y centros reales. El problema es que la información vive dispersa: PDFs que cambian de nombre, páginas institucionales con URLs que se mueven, directorios que mezclan líneas nacionales con locales y grupos de WhatsApp. Quien está en crisis es la última persona con tiempo para hacer curaduría de información.
Nosotros arrancamos con una regla incómoda: si no está verificado, no se publica. Y no la dejamos escrita en un manifiesto: la metimos dentro del código.
&gt;&gt; PAUSA de un segundo antes de leer la frase. Es el pivote del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Ruta Clara Meta es una aplicación web para celular que ofrece orientación clara y sin juicios para encontrar apoyo en salud mental en Villavicencio. Es un prototipo TRL 4, hecho con React y Node, y tiene seis espacios: Inicio, Líneas de ayuda, Al viento, Centros presenciales, Zona de paz y Regálate momentos.
Pero su columna vertebral no son las pestañas. Es el botón rojo fijo: «Necesito hablar con alguien ahora». Nunca se esconde, está en todas las pestañas, y su lista de teléfonos vive dentro del navegador, no en el servidor. Si se cae nuestra infraestructura o no hay internet, la ayuda inmediata sigue ahí. Fue deliberado: en crisis, la ayuda no puede depender de nosotros.
&gt;&gt; MOSTRAR: app en vivo, pestaña «Centros presenciales» ya cargada.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Ruta Clara Meta es una aplicación web para celular que ofrece orientación clara y sin juicios para encontrar apoyo en salud mental en Villavicencio. Es un prototipo TRL 4, hecho con React y Node, y tiene seis espacios: Inicio, Líneas de ayuda, Al viento, Centros presenciales, Zona de paz y Regálate momentos.
Pero su columna vertebral no son las pestañas. Es el botón rojo fijo: «Necesito hablar con alguien ahora». Nunca se esconde, está en todas las pestañas, y su lista de teléfonos vive dentro del navegador, no en el servidor. Si se cae nuestra infraestructura o no hay internet, la ayuda inmediata sigue ahí. Fue deliberado: en crisis, la ayuda no puede depender de nosotros.
&gt;&gt; MOSTRAR: pulsar el botón rojo una vez en vivo y volver atrás. Que lo vean funcionar.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resto acompaña sin juzgar.
En Líneas de ayuda hay un filtro «En Villavicencio» que usa un campo booleano explícito y no una búsqueda de texto: devuelve las tres líneas regionales y deja fuera la 123, que es para peligro inmediato.
En Al viento, la persona escribe lo que le pesa y, al soltarlo, el texto se deshace en pétalos que el viento arrastra hasta convertirlo en una flor o una mariposa. Lo que escribe solo existe mientras escribe: no se envía a ningún servidor.
En Centros presenciales, un mapa fijo de OpenStreetMap, sin pedir ubicación, con tres centros verificados. En Zona de paz, respiración guiada y música generada en el propio navegador. Y en Regálate momentos, ciento cinco actividades de bienestar que se abren como hojas de un árbol.
&gt;&gt; MOSTRAR: escribir dos palabras de ejemplo y soltarlo. Es el momento en que el jurado sonríe.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un bonito mockup se separa de un prototipo defendible.
Todo lo que se ve en pantalla declara dos cosas: quién lo dice y cuándo lo comprobamos. Y esa regla está automatizada: si alguien agrega un registro sin fuente o sin fecha, las pruebas fallan y bloquean la publicación.
El ejemplo más honesto es el 106. Es la línea nacional de salud mental y todos asumimos que funciona aquí. Pero no encontramos fuente que confirmara su disponibilidad en Villavicencio, así que lo retiramos. No hay ningún botón con ese número, y una prueba automática impide que vuelva. Lo sustituimos por Yo Te Escucho, la línea local verificada de la Alcaldía. Preferimos una opción de menos antes que una opción dudosa.
Y si una ficha no tiene coordenadas verificadas, el mapa no inventa un punto: muestra la vista general y lo dice en el pie.
&gt;&gt; HABLO DESPACIO. Este bloque es el que separa un mockup de un prototipo defendible.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teléfono, dirección o enlace que se ve en pantalla declara su fuente oficial y su fecha de comprobación.
&gt;&gt; MOSTRAR: la pestaña «Líneas de ayuda» y señalar la etiqueta de fuente y fecha bajo cada ficha.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prototipo funciona y es medible. Setenta y dos pruebas automatizadas en verde: cuarenta y cuatro de datos y API, veintiocho de interfaz. Cero vulnerabilidades. Inventario completo de doscientas siete dependencias, todas con licencia declarada, y ni un solo archivo binario de terceros: los iconos e ilustraciones son SVG propios.
El contenido de salud se prueba con datos sintéticos, inventados, y tenemos un plan de operación con doble firma y revisión cada treinta días.
&gt;&gt; Marcar cada cifra con el dedo. Son las cuatro que el jurado va a anotar.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opcional si el tiempo aprieta.
Es la respuesta a «¿y después de la hackatón?»: el proceso de verificación ya está escrito, con bitácora y plazos comprometidos.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Seamos claros sobre lo que esto no es: no diagnostica, no trata y no sustituye la atención profesional. Es un acompañamiento con datos honestos, y ese es justamente el punto.
Lo que pedimos hoy es validación y acompañamiento institucional. Queremos que la Secretaría de Salud del Meta y la Alcaldía revisen con nosotros las líneas y la bitácora, porque un producto de salud mental no se sostiene con la energía de un hackathon: necesita dueños.
Si alguien esta noche busca ayuda en Villavicencio, que encuentre un dato cierto a la primera. No prometemos resolver la crisis de salud mental del Meta. Prometemos una sola cosa: que la puerta esté abierta y que el número que marque sea el correcto.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Seamos claros sobre lo que esto no es: no diagnostica, no trata y no sustituye la atención profesional. Es un acompañamiento con datos honestos, y ese es justamente el punto.
Lo que pedimos hoy es validación y acompañamiento institucional. Queremos que la Secretaría de Salud del Meta y la Alcaldía revisen con nosotros las líneas y la bitácora, porque un producto de salud mental no se sostiene con la energía de un hackathon: necesita dueños.
Si alguien esta noche busca ayuda en Villavicencio, que encuentre un dato cierto a la primera. No prometemos resolver la crisis de salud mental del Meta. Prometemos una sola cosa: que la puerta esté abierta y que el número que marque sea el correcto.
&gt;&gt; TERMINAR EN SILENCIO dos segundos. No rellenar: es donde el jurado deja de tomar notas.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 de respaldo. No se presenta: queda abierta mientras responde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143"/>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3FA89B"/>
          </a:solidFill>
          <a:ln/>
        </p:spPr>
      </p:sp>
      <p:sp>
        <p:nvSpPr>
          <p:cNvPr id="3" name="Text 1"/>
          <p:cNvSpPr/>
          <p:nvPr/>
        </p:nvSpPr>
        <p:spPr>
          <a:xfrm>
            <a:off x="1005840" y="1371600"/>
            <a:ext cx="10058400" cy="365760"/>
          </a:xfrm>
          <a:prstGeom prst="rect">
            <a:avLst/>
          </a:prstGeom>
          <a:noFill/>
          <a:ln/>
        </p:spPr>
        <p:txBody>
          <a:bodyPr wrap="square" lIns="0" tIns="0" rIns="0" bIns="0" rtlCol="0" anchor="ctr"/>
          <a:lstStyle/>
          <a:p>
            <a:pPr indent="0" marL="0">
              <a:buNone/>
            </a:pPr>
            <a:r>
              <a:rPr lang="en-US" sz="1300" b="1" spc="300" kern="0" dirty="0">
                <a:solidFill>
                  <a:srgbClr val="3FA89B"/>
                </a:solidFill>
                <a:latin typeface="Calibri" pitchFamily="34" charset="0"/>
                <a:ea typeface="Calibri" pitchFamily="34" charset="-122"/>
                <a:cs typeface="Calibri" pitchFamily="34" charset="-120"/>
              </a:rPr>
              <a:t>HACKATÓN VILLAVICENCIO · SALUD MENTAL</a:t>
            </a:r>
            <a:endParaRPr lang="en-US" sz="1300" dirty="0"/>
          </a:p>
        </p:txBody>
      </p:sp>
      <p:sp>
        <p:nvSpPr>
          <p:cNvPr id="4" name="Text 2"/>
          <p:cNvSpPr/>
          <p:nvPr/>
        </p:nvSpPr>
        <p:spPr>
          <a:xfrm>
            <a:off x="1005840" y="1828800"/>
            <a:ext cx="10058400" cy="118872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Ruta Clara Meta</a:t>
            </a:r>
            <a:endParaRPr lang="en-US" sz="6000" dirty="0"/>
          </a:p>
        </p:txBody>
      </p:sp>
      <p:sp>
        <p:nvSpPr>
          <p:cNvPr id="5" name="Text 3"/>
          <p:cNvSpPr/>
          <p:nvPr/>
        </p:nvSpPr>
        <p:spPr>
          <a:xfrm>
            <a:off x="1005840" y="3154680"/>
            <a:ext cx="9601200" cy="914400"/>
          </a:xfrm>
          <a:prstGeom prst="rect">
            <a:avLst/>
          </a:prstGeom>
          <a:noFill/>
          <a:ln/>
        </p:spPr>
        <p:txBody>
          <a:bodyPr wrap="square" lIns="0" tIns="0" rIns="0" bIns="0" rtlCol="0" anchor="ctr"/>
          <a:lstStyle/>
          <a:p>
            <a:pPr indent="0" marL="0">
              <a:lnSpc>
                <a:spcPts val="3200"/>
              </a:lnSpc>
              <a:buNone/>
            </a:pPr>
            <a:r>
              <a:rPr lang="en-US" sz="2200" dirty="0">
                <a:solidFill>
                  <a:srgbClr val="B9D4DC"/>
                </a:solidFill>
                <a:latin typeface="Calibri" pitchFamily="34" charset="0"/>
                <a:ea typeface="Calibri" pitchFamily="34" charset="-122"/>
                <a:cs typeface="Calibri" pitchFamily="34" charset="-120"/>
              </a:rPr>
              <a:t>Orientación clara y sin juicios para encontrar apoyo</a:t>
            </a:r>
            <a:endParaRPr lang="en-US" sz="2200" dirty="0"/>
          </a:p>
          <a:p>
            <a:pPr indent="0" marL="0">
              <a:lnSpc>
                <a:spcPts val="3200"/>
              </a:lnSpc>
              <a:buNone/>
            </a:pPr>
            <a:r>
              <a:rPr lang="en-US" sz="2200" dirty="0">
                <a:solidFill>
                  <a:srgbClr val="B9D4DC"/>
                </a:solidFill>
                <a:latin typeface="Calibri" pitchFamily="34" charset="0"/>
                <a:ea typeface="Calibri" pitchFamily="34" charset="-122"/>
                <a:cs typeface="Calibri" pitchFamily="34" charset="-120"/>
              </a:rPr>
              <a:t>en salud mental en Villavicencio, Meta</a:t>
            </a:r>
            <a:endParaRPr lang="en-US" sz="2200" dirty="0"/>
          </a:p>
        </p:txBody>
      </p:sp>
      <p:sp>
        <p:nvSpPr>
          <p:cNvPr id="6" name="Shape 4"/>
          <p:cNvSpPr/>
          <p:nvPr/>
        </p:nvSpPr>
        <p:spPr>
          <a:xfrm>
            <a:off x="1005840" y="4343400"/>
            <a:ext cx="3108960" cy="41148"/>
          </a:xfrm>
          <a:prstGeom prst="rect">
            <a:avLst/>
          </a:prstGeom>
          <a:solidFill>
            <a:srgbClr val="3FA89B"/>
          </a:solidFill>
          <a:ln/>
        </p:spPr>
      </p:sp>
      <p:sp>
        <p:nvSpPr>
          <p:cNvPr id="7" name="Text 5"/>
          <p:cNvSpPr/>
          <p:nvPr/>
        </p:nvSpPr>
        <p:spPr>
          <a:xfrm>
            <a:off x="1005840" y="4617720"/>
            <a:ext cx="10058400" cy="365760"/>
          </a:xfrm>
          <a:prstGeom prst="rect">
            <a:avLst/>
          </a:prstGeom>
          <a:noFill/>
          <a:ln/>
        </p:spPr>
        <p:txBody>
          <a:bodyPr wrap="square" lIns="0" tIns="0" rIns="0" bIns="0" rtlCol="0" anchor="ctr"/>
          <a:lstStyle/>
          <a:p>
            <a:pPr indent="0" marL="0">
              <a:buNone/>
            </a:pPr>
            <a:r>
              <a:rPr lang="en-US" sz="1500" dirty="0">
                <a:solidFill>
                  <a:srgbClr val="87A6B3"/>
                </a:solidFill>
                <a:latin typeface="Calibri" pitchFamily="34" charset="0"/>
                <a:ea typeface="Calibri" pitchFamily="34" charset="-122"/>
                <a:cs typeface="Calibri" pitchFamily="34" charset="-120"/>
              </a:rPr>
              <a:t>Prototipo TRL 4  ·  React + Node.js  ·  Villavicencio, Meta</a:t>
            </a:r>
            <a:endParaRPr lang="en-US" sz="1500" dirty="0"/>
          </a:p>
        </p:txBody>
      </p:sp>
      <p:sp>
        <p:nvSpPr>
          <p:cNvPr id="8" name="Shape 6"/>
          <p:cNvSpPr/>
          <p:nvPr/>
        </p:nvSpPr>
        <p:spPr>
          <a:xfrm>
            <a:off x="0" y="6729984"/>
            <a:ext cx="12191695" cy="128016"/>
          </a:xfrm>
          <a:prstGeom prst="rect">
            <a:avLst/>
          </a:prstGeom>
          <a:solidFill>
            <a:srgbClr val="3FA89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822960" y="475488"/>
            <a:ext cx="10515600" cy="310896"/>
          </a:xfrm>
          <a:prstGeom prst="rect">
            <a:avLst/>
          </a:prstGeom>
          <a:noFill/>
          <a:ln/>
        </p:spPr>
        <p:txBody>
          <a:bodyPr wrap="square" lIns="0" tIns="0" rIns="0" bIns="0" rtlCol="0" anchor="ctr"/>
          <a:lstStyle/>
          <a:p>
            <a:pPr indent="0" marL="0">
              <a:buNone/>
            </a:pPr>
            <a:r>
              <a:rPr lang="en-US" sz="1200" b="1" spc="200" kern="0" dirty="0">
                <a:solidFill>
                  <a:srgbClr val="E2574C"/>
                </a:solidFill>
                <a:latin typeface="Calibri" pitchFamily="34" charset="0"/>
                <a:ea typeface="Calibri" pitchFamily="34" charset="-122"/>
                <a:cs typeface="Calibri" pitchFamily="34" charset="-120"/>
              </a:rPr>
              <a:t>EL PROBLEMA</a:t>
            </a:r>
            <a:endParaRPr lang="en-US" sz="1200" dirty="0"/>
          </a:p>
        </p:txBody>
      </p:sp>
      <p:sp>
        <p:nvSpPr>
          <p:cNvPr id="3" name="Text 1"/>
          <p:cNvSpPr/>
          <p:nvPr/>
        </p:nvSpPr>
        <p:spPr>
          <a:xfrm>
            <a:off x="822960" y="841248"/>
            <a:ext cx="10515600" cy="914400"/>
          </a:xfrm>
          <a:prstGeom prst="rect">
            <a:avLst/>
          </a:prstGeom>
          <a:noFill/>
          <a:ln/>
        </p:spPr>
        <p:txBody>
          <a:bodyPr wrap="square" lIns="0" tIns="0" rIns="0" bIns="0" rtlCol="0" anchor="t"/>
          <a:lstStyle/>
          <a:p>
            <a:pPr indent="0" marL="0">
              <a:buNone/>
            </a:pPr>
            <a:r>
              <a:rPr lang="en-US" sz="3600" b="1" dirty="0">
                <a:solidFill>
                  <a:srgbClr val="0D3143"/>
                </a:solidFill>
                <a:latin typeface="Calibri" pitchFamily="34" charset="0"/>
                <a:ea typeface="Calibri" pitchFamily="34" charset="-122"/>
                <a:cs typeface="Calibri" pitchFamily="34" charset="-120"/>
              </a:rPr>
              <a:t>A las once de la noche,</a:t>
            </a:r>
            <a:endParaRPr lang="en-US" sz="3600" dirty="0"/>
          </a:p>
          <a:p>
            <a:pPr indent="0" marL="0">
              <a:buNone/>
            </a:pPr>
            <a:r>
              <a:rPr lang="en-US" sz="3600" b="1" dirty="0">
                <a:solidFill>
                  <a:srgbClr val="0D3143"/>
                </a:solidFill>
                <a:latin typeface="Calibri" pitchFamily="34" charset="0"/>
                <a:ea typeface="Calibri" pitchFamily="34" charset="-122"/>
                <a:cs typeface="Calibri" pitchFamily="34" charset="-120"/>
              </a:rPr>
              <a:t>con el valor ya gastado</a:t>
            </a:r>
            <a:endParaRPr lang="en-US" sz="3600" dirty="0"/>
          </a:p>
        </p:txBody>
      </p:sp>
      <p:sp>
        <p:nvSpPr>
          <p:cNvPr id="4" name="Text 2"/>
          <p:cNvSpPr/>
          <p:nvPr/>
        </p:nvSpPr>
        <p:spPr>
          <a:xfrm>
            <a:off x="868680" y="2743200"/>
            <a:ext cx="6949440" cy="3291840"/>
          </a:xfrm>
          <a:prstGeom prst="rect">
            <a:avLst/>
          </a:prstGeom>
          <a:noFill/>
          <a:ln/>
        </p:spPr>
        <p:txBody>
          <a:bodyPr wrap="square" lIns="0" tIns="0" rIns="0" bIns="0" rtlCol="0" anchor="ctr"/>
          <a:lstStyle/>
          <a:p>
            <a:pPr indent="0" marL="0">
              <a:lnSpc>
                <a:spcPts val="3000"/>
              </a:lnSpc>
              <a:buNone/>
            </a:pPr>
            <a:r>
              <a:rPr lang="en-US" sz="1900" i="1" dirty="0">
                <a:solidFill>
                  <a:srgbClr val="5B7080"/>
                </a:solidFill>
                <a:latin typeface="Calibri" pitchFamily="34" charset="0"/>
                <a:ea typeface="Calibri" pitchFamily="34" charset="-122"/>
                <a:cs typeface="Calibri" pitchFamily="34" charset="-120"/>
              </a:rPr>
              <a:t>«Línea de salud mental Villavicencio»</a:t>
            </a:r>
            <a:pPr indent="0" marL="0">
              <a:lnSpc>
                <a:spcPts val="3000"/>
              </a:lnSpc>
              <a:buNone/>
            </a:pPr>
            <a:r>
              <a:rPr lang="en-US" sz="2400" b="1" dirty="0">
                <a:solidFill>
                  <a:srgbClr val="0D3143"/>
                </a:solidFill>
                <a:latin typeface="Calibri" pitchFamily="34" charset="0"/>
                <a:ea typeface="Calibri" pitchFamily="34" charset="-122"/>
                <a:cs typeface="Calibri" pitchFamily="34" charset="-120"/>
              </a:rPr>
              <a:t>
1.  No contesta.
2.  Es de Bogotá.
3.  Pide una clave que no tengo.
</a:t>
            </a:r>
            <a:pPr indent="0" marL="0">
              <a:lnSpc>
                <a:spcPts val="3000"/>
              </a:lnSpc>
              <a:buNone/>
            </a:pPr>
            <a:endParaRPr lang="en-US" sz="1900" dirty="0"/>
          </a:p>
          <a:p>
            <a:pPr indent="0" marL="0">
              <a:lnSpc>
                <a:spcPts val="3000"/>
              </a:lnSpc>
              <a:buNone/>
            </a:pPr>
            <a:r>
              <a:rPr lang="en-US" sz="2200" b="1" dirty="0">
                <a:solidFill>
                  <a:srgbClr val="E2574C"/>
                </a:solidFill>
                <a:latin typeface="Calibri" pitchFamily="34" charset="0"/>
                <a:ea typeface="Calibri" pitchFamily="34" charset="-122"/>
                <a:cs typeface="Calibri" pitchFamily="34" charset="-120"/>
              </a:rPr>
              <a:t>Y cierra el celular sin volver a intentarlo.</a:t>
            </a:r>
            <a:endParaRPr lang="en-US" sz="1900" dirty="0"/>
          </a:p>
        </p:txBody>
      </p:sp>
      <p:sp>
        <p:nvSpPr>
          <p:cNvPr id="5" name="Shape 3"/>
          <p:cNvSpPr/>
          <p:nvPr/>
        </p:nvSpPr>
        <p:spPr>
          <a:xfrm>
            <a:off x="8229600" y="2788920"/>
            <a:ext cx="3108960" cy="3017520"/>
          </a:xfrm>
          <a:prstGeom prst="roundRect">
            <a:avLst>
              <a:gd name="adj" fmla="val 2424"/>
            </a:avLst>
          </a:prstGeom>
          <a:solidFill>
            <a:srgbClr val="FFFFFF"/>
          </a:solidFill>
          <a:ln w="12700">
            <a:solidFill>
              <a:srgbClr val="DCE5E7"/>
            </a:solidFill>
            <a:prstDash val="solid"/>
          </a:ln>
        </p:spPr>
      </p:sp>
      <p:sp>
        <p:nvSpPr>
          <p:cNvPr id="6" name="Text 4"/>
          <p:cNvSpPr/>
          <p:nvPr/>
        </p:nvSpPr>
        <p:spPr>
          <a:xfrm>
            <a:off x="8458200" y="3154680"/>
            <a:ext cx="2697480" cy="1645920"/>
          </a:xfrm>
          <a:prstGeom prst="rect">
            <a:avLst/>
          </a:prstGeom>
          <a:noFill/>
          <a:ln/>
        </p:spPr>
        <p:txBody>
          <a:bodyPr wrap="square" lIns="0" tIns="0" rIns="0" bIns="0" rtlCol="0" anchor="ctr"/>
          <a:lstStyle/>
          <a:p>
            <a:pPr indent="0" marL="0">
              <a:lnSpc>
                <a:spcPts val="2600"/>
              </a:lnSpc>
              <a:buNone/>
            </a:pPr>
            <a:r>
              <a:rPr lang="en-US" sz="1700" b="1" dirty="0">
                <a:solidFill>
                  <a:srgbClr val="0D3143"/>
                </a:solidFill>
                <a:latin typeface="Calibri" pitchFamily="34" charset="0"/>
                <a:ea typeface="Calibri" pitchFamily="34" charset="-122"/>
                <a:cs typeface="Calibri" pitchFamily="34" charset="-120"/>
              </a:rPr>
              <a:t>No es un error de interfaz.</a:t>
            </a:r>
            <a:endParaRPr lang="en-US" sz="1700" dirty="0"/>
          </a:p>
          <a:p>
            <a:pPr indent="0" marL="0">
              <a:lnSpc>
                <a:spcPts val="2600"/>
              </a:lnSpc>
              <a:buNone/>
            </a:pPr>
            <a:r>
              <a:rPr lang="en-US" sz="1700" b="1" dirty="0">
                <a:solidFill>
                  <a:srgbClr val="0D3143"/>
                </a:solidFill>
                <a:latin typeface="Calibri" pitchFamily="34" charset="0"/>
                <a:ea typeface="Calibri" pitchFamily="34" charset="-122"/>
                <a:cs typeface="Calibri" pitchFamily="34" charset="-120"/>
              </a:rPr>
              <a:t>Es una puerta que se cierra</a:t>
            </a:r>
            <a:endParaRPr lang="en-US" sz="1700" dirty="0"/>
          </a:p>
          <a:p>
            <a:pPr indent="0" marL="0">
              <a:lnSpc>
                <a:spcPts val="2600"/>
              </a:lnSpc>
              <a:buNone/>
            </a:pPr>
            <a:r>
              <a:rPr lang="en-US" sz="1700" b="1" dirty="0">
                <a:solidFill>
                  <a:srgbClr val="0D3143"/>
                </a:solidFill>
                <a:latin typeface="Calibri" pitchFamily="34" charset="0"/>
                <a:ea typeface="Calibri" pitchFamily="34" charset="-122"/>
                <a:cs typeface="Calibri" pitchFamily="34" charset="-120"/>
              </a:rPr>
              <a:t>en el peor momento.</a:t>
            </a:r>
            <a:endParaRPr lang="en-US" sz="1700" dirty="0"/>
          </a:p>
        </p:txBody>
      </p:sp>
      <p:sp>
        <p:nvSpPr>
          <p:cNvPr id="7" name="Text 5"/>
          <p:cNvSpPr/>
          <p:nvPr/>
        </p:nvSpPr>
        <p:spPr>
          <a:xfrm>
            <a:off x="8458200" y="4892040"/>
            <a:ext cx="2697480" cy="822960"/>
          </a:xfrm>
          <a:prstGeom prst="rect">
            <a:avLst/>
          </a:prstGeom>
          <a:noFill/>
          <a:ln/>
        </p:spPr>
        <p:txBody>
          <a:bodyPr wrap="square" lIns="0" tIns="0" rIns="0" bIns="0" rtlCol="0" anchor="ctr"/>
          <a:lstStyle/>
          <a:p>
            <a:pPr indent="0" marL="0">
              <a:lnSpc>
                <a:spcPts val="1900"/>
              </a:lnSpc>
              <a:buNone/>
            </a:pPr>
            <a:r>
              <a:rPr lang="en-US" sz="1300" dirty="0">
                <a:solidFill>
                  <a:srgbClr val="5B7080"/>
                </a:solidFill>
                <a:latin typeface="Calibri" pitchFamily="34" charset="0"/>
                <a:ea typeface="Calibri" pitchFamily="34" charset="-122"/>
                <a:cs typeface="Calibri" pitchFamily="34" charset="-120"/>
              </a:rPr>
              <a:t>En el Meta sí existen líneas y centros reales. El problema es que están dispersos.</a:t>
            </a:r>
            <a:endParaRPr lang="en-US" sz="1300" dirty="0"/>
          </a:p>
        </p:txBody>
      </p:sp>
      <p:sp>
        <p:nvSpPr>
          <p:cNvPr id="8" name="Shape 6"/>
          <p:cNvSpPr/>
          <p:nvPr/>
        </p:nvSpPr>
        <p:spPr>
          <a:xfrm>
            <a:off x="0" y="6729984"/>
            <a:ext cx="12191695" cy="128016"/>
          </a:xfrm>
          <a:prstGeom prst="rect">
            <a:avLst/>
          </a:prstGeom>
          <a:solidFill>
            <a:srgbClr val="E2574C"/>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3143"/>
        </a:solidFill>
      </p:bgPr>
    </p:bg>
    <p:spTree>
      <p:nvGrpSpPr>
        <p:cNvPr id="1" name=""/>
        <p:cNvGrpSpPr/>
        <p:nvPr/>
      </p:nvGrpSpPr>
      <p:grpSpPr>
        <a:xfrm>
          <a:off x="0" y="0"/>
          <a:ext cx="0" cy="0"/>
          <a:chOff x="0" y="0"/>
          <a:chExt cx="0" cy="0"/>
        </a:xfrm>
      </p:grpSpPr>
      <p:sp>
        <p:nvSpPr>
          <p:cNvPr id="2" name="Text 0"/>
          <p:cNvSpPr/>
          <p:nvPr/>
        </p:nvSpPr>
        <p:spPr>
          <a:xfrm>
            <a:off x="822960" y="1737360"/>
            <a:ext cx="10515600" cy="310896"/>
          </a:xfrm>
          <a:prstGeom prst="rect">
            <a:avLst/>
          </a:prstGeom>
          <a:noFill/>
          <a:ln/>
        </p:spPr>
        <p:txBody>
          <a:bodyPr wrap="square" lIns="0" tIns="0" rIns="0" bIns="0" rtlCol="0" anchor="ctr"/>
          <a:lstStyle/>
          <a:p>
            <a:pPr indent="0" marL="0">
              <a:buNone/>
            </a:pPr>
            <a:r>
              <a:rPr lang="en-US" sz="1200" b="1" spc="200" kern="0" dirty="0">
                <a:solidFill>
                  <a:srgbClr val="3FA89B"/>
                </a:solidFill>
                <a:latin typeface="Calibri" pitchFamily="34" charset="0"/>
                <a:ea typeface="Calibri" pitchFamily="34" charset="-122"/>
                <a:cs typeface="Calibri" pitchFamily="34" charset="-120"/>
              </a:rPr>
              <a:t>NUESTRA REGLA DE ORO</a:t>
            </a:r>
            <a:endParaRPr lang="en-US" sz="1200" dirty="0"/>
          </a:p>
        </p:txBody>
      </p:sp>
      <p:sp>
        <p:nvSpPr>
          <p:cNvPr id="3" name="Text 1"/>
          <p:cNvSpPr/>
          <p:nvPr/>
        </p:nvSpPr>
        <p:spPr>
          <a:xfrm>
            <a:off x="822960" y="2286000"/>
            <a:ext cx="10515600" cy="1828800"/>
          </a:xfrm>
          <a:prstGeom prst="rect">
            <a:avLst/>
          </a:prstGeom>
          <a:noFill/>
          <a:ln/>
        </p:spPr>
        <p:txBody>
          <a:bodyPr wrap="square" lIns="0" tIns="0" rIns="0" bIns="0" rtlCol="0" anchor="ctr"/>
          <a:lstStyle/>
          <a:p>
            <a:pPr indent="0" marL="0">
              <a:lnSpc>
                <a:spcPts val="5800"/>
              </a:lnSpc>
              <a:buNone/>
            </a:pPr>
            <a:r>
              <a:rPr lang="en-US" sz="5000" b="1" dirty="0">
                <a:solidFill>
                  <a:srgbClr val="FFFFFF"/>
                </a:solidFill>
                <a:latin typeface="Calibri" pitchFamily="34" charset="0"/>
                <a:ea typeface="Calibri" pitchFamily="34" charset="-122"/>
                <a:cs typeface="Calibri" pitchFamily="34" charset="-120"/>
              </a:rPr>
              <a:t>Si no está verificado,</a:t>
            </a:r>
            <a:endParaRPr lang="en-US" sz="5000" dirty="0"/>
          </a:p>
          <a:p>
            <a:pPr indent="0" marL="0">
              <a:lnSpc>
                <a:spcPts val="5800"/>
              </a:lnSpc>
              <a:buNone/>
            </a:pPr>
            <a:r>
              <a:rPr lang="en-US" sz="5000" b="1" dirty="0">
                <a:solidFill>
                  <a:srgbClr val="FFFFFF"/>
                </a:solidFill>
                <a:latin typeface="Calibri" pitchFamily="34" charset="0"/>
                <a:ea typeface="Calibri" pitchFamily="34" charset="-122"/>
                <a:cs typeface="Calibri" pitchFamily="34" charset="-120"/>
              </a:rPr>
              <a:t>no se publica.</a:t>
            </a:r>
            <a:endParaRPr lang="en-US" sz="5000" dirty="0"/>
          </a:p>
        </p:txBody>
      </p:sp>
      <p:sp>
        <p:nvSpPr>
          <p:cNvPr id="4" name="Text 2"/>
          <p:cNvSpPr/>
          <p:nvPr/>
        </p:nvSpPr>
        <p:spPr>
          <a:xfrm>
            <a:off x="822960" y="4251960"/>
            <a:ext cx="9601200" cy="457200"/>
          </a:xfrm>
          <a:prstGeom prst="rect">
            <a:avLst/>
          </a:prstGeom>
          <a:noFill/>
          <a:ln/>
        </p:spPr>
        <p:txBody>
          <a:bodyPr wrap="square" lIns="0" tIns="0" rIns="0" bIns="0" rtlCol="0" anchor="ctr"/>
          <a:lstStyle/>
          <a:p>
            <a:pPr indent="0" marL="0">
              <a:buNone/>
            </a:pPr>
            <a:r>
              <a:rPr lang="en-US" sz="2100" i="1" dirty="0">
                <a:solidFill>
                  <a:srgbClr val="3FA89B"/>
                </a:solidFill>
                <a:latin typeface="Calibri" pitchFamily="34" charset="0"/>
                <a:ea typeface="Calibri" pitchFamily="34" charset="-122"/>
                <a:cs typeface="Calibri" pitchFamily="34" charset="-120"/>
              </a:rPr>
              <a:t>Y no la dejamos escrita en un manifiesto: la metimos dentro del código.</a:t>
            </a:r>
            <a:endParaRPr lang="en-US" sz="2100" dirty="0"/>
          </a:p>
        </p:txBody>
      </p:sp>
      <p:sp>
        <p:nvSpPr>
          <p:cNvPr id="5" name="Shape 3"/>
          <p:cNvSpPr/>
          <p:nvPr/>
        </p:nvSpPr>
        <p:spPr>
          <a:xfrm>
            <a:off x="0" y="6729984"/>
            <a:ext cx="12191695" cy="128016"/>
          </a:xfrm>
          <a:prstGeom prst="rect">
            <a:avLst/>
          </a:prstGeom>
          <a:solidFill>
            <a:srgbClr val="3FA89B"/>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822960" y="475488"/>
            <a:ext cx="10515600" cy="310896"/>
          </a:xfrm>
          <a:prstGeom prst="rect">
            <a:avLst/>
          </a:prstGeom>
          <a:noFill/>
          <a:ln/>
        </p:spPr>
        <p:txBody>
          <a:bodyPr wrap="square" lIns="0" tIns="0" rIns="0" bIns="0" rtlCol="0" anchor="ctr"/>
          <a:lstStyle/>
          <a:p>
            <a:pPr indent="0" marL="0">
              <a:buNone/>
            </a:pPr>
            <a:r>
              <a:rPr lang="en-US" sz="1200" b="1" spc="200" kern="0" dirty="0">
                <a:solidFill>
                  <a:srgbClr val="3F7FBF"/>
                </a:solidFill>
                <a:latin typeface="Calibri" pitchFamily="34" charset="0"/>
                <a:ea typeface="Calibri" pitchFamily="34" charset="-122"/>
                <a:cs typeface="Calibri" pitchFamily="34" charset="-120"/>
              </a:rPr>
              <a:t>QUÉ ES</a:t>
            </a:r>
            <a:endParaRPr lang="en-US" sz="1200" dirty="0"/>
          </a:p>
        </p:txBody>
      </p:sp>
      <p:sp>
        <p:nvSpPr>
          <p:cNvPr id="3" name="Text 1"/>
          <p:cNvSpPr/>
          <p:nvPr/>
        </p:nvSpPr>
        <p:spPr>
          <a:xfrm>
            <a:off x="822960" y="822960"/>
            <a:ext cx="10515600" cy="914400"/>
          </a:xfrm>
          <a:prstGeom prst="rect">
            <a:avLst/>
          </a:prstGeom>
          <a:noFill/>
          <a:ln/>
        </p:spPr>
        <p:txBody>
          <a:bodyPr wrap="square" lIns="0" tIns="0" rIns="0" bIns="0" rtlCol="0" anchor="t"/>
          <a:lstStyle/>
          <a:p>
            <a:pPr indent="0" marL="0">
              <a:buNone/>
            </a:pPr>
            <a:r>
              <a:rPr lang="en-US" sz="3000" b="1" dirty="0">
                <a:solidFill>
                  <a:srgbClr val="0D3143"/>
                </a:solidFill>
                <a:latin typeface="Calibri" pitchFamily="34" charset="0"/>
                <a:ea typeface="Calibri" pitchFamily="34" charset="-122"/>
                <a:cs typeface="Calibri" pitchFamily="34" charset="-120"/>
              </a:rPr>
              <a:t>Seis espacios, uno por cada forma de necesitar ayuda</a:t>
            </a:r>
            <a:endParaRPr lang="en-US" sz="3000" dirty="0"/>
          </a:p>
        </p:txBody>
      </p:sp>
      <p:sp>
        <p:nvSpPr>
          <p:cNvPr id="4" name="Shape 2"/>
          <p:cNvSpPr/>
          <p:nvPr/>
        </p:nvSpPr>
        <p:spPr>
          <a:xfrm>
            <a:off x="822960" y="1965960"/>
            <a:ext cx="3429000" cy="1691640"/>
          </a:xfrm>
          <a:prstGeom prst="roundRect">
            <a:avLst>
              <a:gd name="adj" fmla="val 4324"/>
            </a:avLst>
          </a:prstGeom>
          <a:solidFill>
            <a:srgbClr val="FFFFFF"/>
          </a:solidFill>
          <a:ln w="12700">
            <a:solidFill>
              <a:srgbClr val="DCE5E7"/>
            </a:solidFill>
            <a:prstDash val="solid"/>
          </a:ln>
        </p:spPr>
      </p:sp>
      <p:sp>
        <p:nvSpPr>
          <p:cNvPr id="5" name="Shape 3"/>
          <p:cNvSpPr/>
          <p:nvPr/>
        </p:nvSpPr>
        <p:spPr>
          <a:xfrm>
            <a:off x="822960" y="1965960"/>
            <a:ext cx="73152" cy="1691640"/>
          </a:xfrm>
          <a:prstGeom prst="rect">
            <a:avLst/>
          </a:prstGeom>
          <a:solidFill>
            <a:srgbClr val="3F7FBF"/>
          </a:solidFill>
          <a:ln/>
        </p:spPr>
      </p:sp>
      <p:sp>
        <p:nvSpPr>
          <p:cNvPr id="6" name="Text 4"/>
          <p:cNvSpPr/>
          <p:nvPr/>
        </p:nvSpPr>
        <p:spPr>
          <a:xfrm>
            <a:off x="1078992" y="2167128"/>
            <a:ext cx="3017520" cy="365760"/>
          </a:xfrm>
          <a:prstGeom prst="rect">
            <a:avLst/>
          </a:prstGeom>
          <a:noFill/>
          <a:ln/>
        </p:spPr>
        <p:txBody>
          <a:bodyPr wrap="square" lIns="0" tIns="0" rIns="0" bIns="0" rtlCol="0" anchor="ctr"/>
          <a:lstStyle/>
          <a:p>
            <a:pPr indent="0" marL="0">
              <a:buNone/>
            </a:pPr>
            <a:r>
              <a:rPr lang="en-US" sz="1700" b="1" dirty="0">
                <a:solidFill>
                  <a:srgbClr val="0D3143"/>
                </a:solidFill>
                <a:latin typeface="Calibri" pitchFamily="34" charset="0"/>
                <a:ea typeface="Calibri" pitchFamily="34" charset="-122"/>
                <a:cs typeface="Calibri" pitchFamily="34" charset="-120"/>
              </a:rPr>
              <a:t>Inicio</a:t>
            </a:r>
            <a:endParaRPr lang="en-US" sz="1700" dirty="0"/>
          </a:p>
        </p:txBody>
      </p:sp>
      <p:sp>
        <p:nvSpPr>
          <p:cNvPr id="7" name="Text 5"/>
          <p:cNvSpPr/>
          <p:nvPr/>
        </p:nvSpPr>
        <p:spPr>
          <a:xfrm>
            <a:off x="1078992" y="2587752"/>
            <a:ext cx="3017520" cy="914400"/>
          </a:xfrm>
          <a:prstGeom prst="rect">
            <a:avLst/>
          </a:prstGeom>
          <a:noFill/>
          <a:ln/>
        </p:spPr>
        <p:txBody>
          <a:bodyPr wrap="square" lIns="0" tIns="0" rIns="0" bIns="0" rtlCol="0" anchor="ctr"/>
          <a:lstStyle/>
          <a:p>
            <a:pPr indent="0" marL="0">
              <a:lnSpc>
                <a:spcPts val="1800"/>
              </a:lnSpc>
              <a:buNone/>
            </a:pPr>
            <a:r>
              <a:rPr lang="en-US" sz="1250" dirty="0">
                <a:solidFill>
                  <a:srgbClr val="5B7080"/>
                </a:solidFill>
                <a:latin typeface="Calibri" pitchFamily="34" charset="0"/>
                <a:ea typeface="Calibri" pitchFamily="34" charset="-122"/>
                <a:cs typeface="Calibri" pitchFamily="34" charset="-120"/>
              </a:rPr>
              <a:t>¿Qué necesitas en este momento?</a:t>
            </a:r>
            <a:endParaRPr lang="en-US" sz="1250" dirty="0"/>
          </a:p>
        </p:txBody>
      </p:sp>
      <p:sp>
        <p:nvSpPr>
          <p:cNvPr id="8" name="Shape 6"/>
          <p:cNvSpPr/>
          <p:nvPr/>
        </p:nvSpPr>
        <p:spPr>
          <a:xfrm>
            <a:off x="4526280" y="1965960"/>
            <a:ext cx="3429000" cy="1691640"/>
          </a:xfrm>
          <a:prstGeom prst="roundRect">
            <a:avLst>
              <a:gd name="adj" fmla="val 4324"/>
            </a:avLst>
          </a:prstGeom>
          <a:solidFill>
            <a:srgbClr val="FFFFFF"/>
          </a:solidFill>
          <a:ln w="12700">
            <a:solidFill>
              <a:srgbClr val="DCE5E7"/>
            </a:solidFill>
            <a:prstDash val="solid"/>
          </a:ln>
        </p:spPr>
      </p:sp>
      <p:sp>
        <p:nvSpPr>
          <p:cNvPr id="9" name="Shape 7"/>
          <p:cNvSpPr/>
          <p:nvPr/>
        </p:nvSpPr>
        <p:spPr>
          <a:xfrm>
            <a:off x="4526280" y="1965960"/>
            <a:ext cx="73152" cy="1691640"/>
          </a:xfrm>
          <a:prstGeom prst="rect">
            <a:avLst/>
          </a:prstGeom>
          <a:solidFill>
            <a:srgbClr val="3FA89B"/>
          </a:solidFill>
          <a:ln/>
        </p:spPr>
      </p:sp>
      <p:sp>
        <p:nvSpPr>
          <p:cNvPr id="10" name="Text 8"/>
          <p:cNvSpPr/>
          <p:nvPr/>
        </p:nvSpPr>
        <p:spPr>
          <a:xfrm>
            <a:off x="4782312" y="2167128"/>
            <a:ext cx="3017520" cy="365760"/>
          </a:xfrm>
          <a:prstGeom prst="rect">
            <a:avLst/>
          </a:prstGeom>
          <a:noFill/>
          <a:ln/>
        </p:spPr>
        <p:txBody>
          <a:bodyPr wrap="square" lIns="0" tIns="0" rIns="0" bIns="0" rtlCol="0" anchor="ctr"/>
          <a:lstStyle/>
          <a:p>
            <a:pPr indent="0" marL="0">
              <a:buNone/>
            </a:pPr>
            <a:r>
              <a:rPr lang="en-US" sz="1700" b="1" dirty="0">
                <a:solidFill>
                  <a:srgbClr val="0D3143"/>
                </a:solidFill>
                <a:latin typeface="Calibri" pitchFamily="34" charset="0"/>
                <a:ea typeface="Calibri" pitchFamily="34" charset="-122"/>
                <a:cs typeface="Calibri" pitchFamily="34" charset="-120"/>
              </a:rPr>
              <a:t>Líneas de ayuda</a:t>
            </a:r>
            <a:endParaRPr lang="en-US" sz="1700" dirty="0"/>
          </a:p>
        </p:txBody>
      </p:sp>
      <p:sp>
        <p:nvSpPr>
          <p:cNvPr id="11" name="Text 9"/>
          <p:cNvSpPr/>
          <p:nvPr/>
        </p:nvSpPr>
        <p:spPr>
          <a:xfrm>
            <a:off x="4782312" y="2587752"/>
            <a:ext cx="3017520" cy="914400"/>
          </a:xfrm>
          <a:prstGeom prst="rect">
            <a:avLst/>
          </a:prstGeom>
          <a:noFill/>
          <a:ln/>
        </p:spPr>
        <p:txBody>
          <a:bodyPr wrap="square" lIns="0" tIns="0" rIns="0" bIns="0" rtlCol="0" anchor="ctr"/>
          <a:lstStyle/>
          <a:p>
            <a:pPr indent="0" marL="0">
              <a:lnSpc>
                <a:spcPts val="1800"/>
              </a:lnSpc>
              <a:buNone/>
            </a:pPr>
            <a:r>
              <a:rPr lang="en-US" sz="1250" dirty="0">
                <a:solidFill>
                  <a:srgbClr val="5B7080"/>
                </a:solidFill>
                <a:latin typeface="Calibri" pitchFamily="34" charset="0"/>
                <a:ea typeface="Calibri" pitchFamily="34" charset="-122"/>
                <a:cs typeface="Calibri" pitchFamily="34" charset="-120"/>
              </a:rPr>
              <a:t>Canales verificados, con filtro «En Villavicencio»</a:t>
            </a:r>
            <a:endParaRPr lang="en-US" sz="1250" dirty="0"/>
          </a:p>
        </p:txBody>
      </p:sp>
      <p:sp>
        <p:nvSpPr>
          <p:cNvPr id="12" name="Shape 10"/>
          <p:cNvSpPr/>
          <p:nvPr/>
        </p:nvSpPr>
        <p:spPr>
          <a:xfrm>
            <a:off x="8229600" y="1965960"/>
            <a:ext cx="3429000" cy="1691640"/>
          </a:xfrm>
          <a:prstGeom prst="roundRect">
            <a:avLst>
              <a:gd name="adj" fmla="val 4324"/>
            </a:avLst>
          </a:prstGeom>
          <a:solidFill>
            <a:srgbClr val="FFFFFF"/>
          </a:solidFill>
          <a:ln w="12700">
            <a:solidFill>
              <a:srgbClr val="DCE5E7"/>
            </a:solidFill>
            <a:prstDash val="solid"/>
          </a:ln>
        </p:spPr>
      </p:sp>
      <p:sp>
        <p:nvSpPr>
          <p:cNvPr id="13" name="Shape 11"/>
          <p:cNvSpPr/>
          <p:nvPr/>
        </p:nvSpPr>
        <p:spPr>
          <a:xfrm>
            <a:off x="8229600" y="1965960"/>
            <a:ext cx="73152" cy="1691640"/>
          </a:xfrm>
          <a:prstGeom prst="rect">
            <a:avLst/>
          </a:prstGeom>
          <a:solidFill>
            <a:srgbClr val="D97BA8"/>
          </a:solidFill>
          <a:ln/>
        </p:spPr>
      </p:sp>
      <p:sp>
        <p:nvSpPr>
          <p:cNvPr id="14" name="Text 12"/>
          <p:cNvSpPr/>
          <p:nvPr/>
        </p:nvSpPr>
        <p:spPr>
          <a:xfrm>
            <a:off x="8485632" y="2167128"/>
            <a:ext cx="3017520" cy="365760"/>
          </a:xfrm>
          <a:prstGeom prst="rect">
            <a:avLst/>
          </a:prstGeom>
          <a:noFill/>
          <a:ln/>
        </p:spPr>
        <p:txBody>
          <a:bodyPr wrap="square" lIns="0" tIns="0" rIns="0" bIns="0" rtlCol="0" anchor="ctr"/>
          <a:lstStyle/>
          <a:p>
            <a:pPr indent="0" marL="0">
              <a:buNone/>
            </a:pPr>
            <a:r>
              <a:rPr lang="en-US" sz="1700" b="1" dirty="0">
                <a:solidFill>
                  <a:srgbClr val="0D3143"/>
                </a:solidFill>
                <a:latin typeface="Calibri" pitchFamily="34" charset="0"/>
                <a:ea typeface="Calibri" pitchFamily="34" charset="-122"/>
                <a:cs typeface="Calibri" pitchFamily="34" charset="-120"/>
              </a:rPr>
              <a:t>Al viento</a:t>
            </a:r>
            <a:endParaRPr lang="en-US" sz="1700" dirty="0"/>
          </a:p>
        </p:txBody>
      </p:sp>
      <p:sp>
        <p:nvSpPr>
          <p:cNvPr id="15" name="Text 13"/>
          <p:cNvSpPr/>
          <p:nvPr/>
        </p:nvSpPr>
        <p:spPr>
          <a:xfrm>
            <a:off x="8485632" y="2587752"/>
            <a:ext cx="3017520" cy="914400"/>
          </a:xfrm>
          <a:prstGeom prst="rect">
            <a:avLst/>
          </a:prstGeom>
          <a:noFill/>
          <a:ln/>
        </p:spPr>
        <p:txBody>
          <a:bodyPr wrap="square" lIns="0" tIns="0" rIns="0" bIns="0" rtlCol="0" anchor="ctr"/>
          <a:lstStyle/>
          <a:p>
            <a:pPr indent="0" marL="0">
              <a:lnSpc>
                <a:spcPts val="1800"/>
              </a:lnSpc>
              <a:buNone/>
            </a:pPr>
            <a:r>
              <a:rPr lang="en-US" sz="1250" dirty="0">
                <a:solidFill>
                  <a:srgbClr val="5B7080"/>
                </a:solidFill>
                <a:latin typeface="Calibri" pitchFamily="34" charset="0"/>
                <a:ea typeface="Calibri" pitchFamily="34" charset="-122"/>
                <a:cs typeface="Calibri" pitchFamily="34" charset="-120"/>
              </a:rPr>
              <a:t>Escribir lo que pesa y soltarlo. No se guarda nada</a:t>
            </a:r>
            <a:endParaRPr lang="en-US" sz="1250" dirty="0"/>
          </a:p>
        </p:txBody>
      </p:sp>
      <p:sp>
        <p:nvSpPr>
          <p:cNvPr id="16" name="Shape 14"/>
          <p:cNvSpPr/>
          <p:nvPr/>
        </p:nvSpPr>
        <p:spPr>
          <a:xfrm>
            <a:off x="822960" y="3931920"/>
            <a:ext cx="3429000" cy="1691640"/>
          </a:xfrm>
          <a:prstGeom prst="roundRect">
            <a:avLst>
              <a:gd name="adj" fmla="val 4324"/>
            </a:avLst>
          </a:prstGeom>
          <a:solidFill>
            <a:srgbClr val="FFFFFF"/>
          </a:solidFill>
          <a:ln w="12700">
            <a:solidFill>
              <a:srgbClr val="DCE5E7"/>
            </a:solidFill>
            <a:prstDash val="solid"/>
          </a:ln>
        </p:spPr>
      </p:sp>
      <p:sp>
        <p:nvSpPr>
          <p:cNvPr id="17" name="Shape 15"/>
          <p:cNvSpPr/>
          <p:nvPr/>
        </p:nvSpPr>
        <p:spPr>
          <a:xfrm>
            <a:off x="822960" y="3931920"/>
            <a:ext cx="73152" cy="1691640"/>
          </a:xfrm>
          <a:prstGeom prst="rect">
            <a:avLst/>
          </a:prstGeom>
          <a:solidFill>
            <a:srgbClr val="3F7FBF"/>
          </a:solidFill>
          <a:ln/>
        </p:spPr>
      </p:sp>
      <p:sp>
        <p:nvSpPr>
          <p:cNvPr id="18" name="Text 16"/>
          <p:cNvSpPr/>
          <p:nvPr/>
        </p:nvSpPr>
        <p:spPr>
          <a:xfrm>
            <a:off x="1078992" y="4133088"/>
            <a:ext cx="3017520" cy="365760"/>
          </a:xfrm>
          <a:prstGeom prst="rect">
            <a:avLst/>
          </a:prstGeom>
          <a:noFill/>
          <a:ln/>
        </p:spPr>
        <p:txBody>
          <a:bodyPr wrap="square" lIns="0" tIns="0" rIns="0" bIns="0" rtlCol="0" anchor="ctr"/>
          <a:lstStyle/>
          <a:p>
            <a:pPr indent="0" marL="0">
              <a:buNone/>
            </a:pPr>
            <a:r>
              <a:rPr lang="en-US" sz="1700" b="1" dirty="0">
                <a:solidFill>
                  <a:srgbClr val="0D3143"/>
                </a:solidFill>
                <a:latin typeface="Calibri" pitchFamily="34" charset="0"/>
                <a:ea typeface="Calibri" pitchFamily="34" charset="-122"/>
                <a:cs typeface="Calibri" pitchFamily="34" charset="-120"/>
              </a:rPr>
              <a:t>Centros presenciales</a:t>
            </a:r>
            <a:endParaRPr lang="en-US" sz="1700" dirty="0"/>
          </a:p>
        </p:txBody>
      </p:sp>
      <p:sp>
        <p:nvSpPr>
          <p:cNvPr id="19" name="Text 17"/>
          <p:cNvSpPr/>
          <p:nvPr/>
        </p:nvSpPr>
        <p:spPr>
          <a:xfrm>
            <a:off x="1078992" y="4553712"/>
            <a:ext cx="3017520" cy="914400"/>
          </a:xfrm>
          <a:prstGeom prst="rect">
            <a:avLst/>
          </a:prstGeom>
          <a:noFill/>
          <a:ln/>
        </p:spPr>
        <p:txBody>
          <a:bodyPr wrap="square" lIns="0" tIns="0" rIns="0" bIns="0" rtlCol="0" anchor="ctr"/>
          <a:lstStyle/>
          <a:p>
            <a:pPr indent="0" marL="0">
              <a:lnSpc>
                <a:spcPts val="1800"/>
              </a:lnSpc>
              <a:buNone/>
            </a:pPr>
            <a:r>
              <a:rPr lang="en-US" sz="1250" dirty="0">
                <a:solidFill>
                  <a:srgbClr val="5B7080"/>
                </a:solidFill>
                <a:latin typeface="Calibri" pitchFamily="34" charset="0"/>
                <a:ea typeface="Calibri" pitchFamily="34" charset="-122"/>
                <a:cs typeface="Calibri" pitchFamily="34" charset="-120"/>
              </a:rPr>
              <a:t>Mapa fijo de OpenStreetMap + 3 centros verificados</a:t>
            </a:r>
            <a:endParaRPr lang="en-US" sz="1250" dirty="0"/>
          </a:p>
        </p:txBody>
      </p:sp>
      <p:sp>
        <p:nvSpPr>
          <p:cNvPr id="20" name="Shape 18"/>
          <p:cNvSpPr/>
          <p:nvPr/>
        </p:nvSpPr>
        <p:spPr>
          <a:xfrm>
            <a:off x="4526280" y="3931920"/>
            <a:ext cx="3429000" cy="1691640"/>
          </a:xfrm>
          <a:prstGeom prst="roundRect">
            <a:avLst>
              <a:gd name="adj" fmla="val 4324"/>
            </a:avLst>
          </a:prstGeom>
          <a:solidFill>
            <a:srgbClr val="FFFFFF"/>
          </a:solidFill>
          <a:ln w="12700">
            <a:solidFill>
              <a:srgbClr val="DCE5E7"/>
            </a:solidFill>
            <a:prstDash val="solid"/>
          </a:ln>
        </p:spPr>
      </p:sp>
      <p:sp>
        <p:nvSpPr>
          <p:cNvPr id="21" name="Shape 19"/>
          <p:cNvSpPr/>
          <p:nvPr/>
        </p:nvSpPr>
        <p:spPr>
          <a:xfrm>
            <a:off x="4526280" y="3931920"/>
            <a:ext cx="73152" cy="1691640"/>
          </a:xfrm>
          <a:prstGeom prst="rect">
            <a:avLst/>
          </a:prstGeom>
          <a:solidFill>
            <a:srgbClr val="3FA89B"/>
          </a:solidFill>
          <a:ln/>
        </p:spPr>
      </p:sp>
      <p:sp>
        <p:nvSpPr>
          <p:cNvPr id="22" name="Text 20"/>
          <p:cNvSpPr/>
          <p:nvPr/>
        </p:nvSpPr>
        <p:spPr>
          <a:xfrm>
            <a:off x="4782312" y="4133088"/>
            <a:ext cx="3017520" cy="365760"/>
          </a:xfrm>
          <a:prstGeom prst="rect">
            <a:avLst/>
          </a:prstGeom>
          <a:noFill/>
          <a:ln/>
        </p:spPr>
        <p:txBody>
          <a:bodyPr wrap="square" lIns="0" tIns="0" rIns="0" bIns="0" rtlCol="0" anchor="ctr"/>
          <a:lstStyle/>
          <a:p>
            <a:pPr indent="0" marL="0">
              <a:buNone/>
            </a:pPr>
            <a:r>
              <a:rPr lang="en-US" sz="1700" b="1" dirty="0">
                <a:solidFill>
                  <a:srgbClr val="0D3143"/>
                </a:solidFill>
                <a:latin typeface="Calibri" pitchFamily="34" charset="0"/>
                <a:ea typeface="Calibri" pitchFamily="34" charset="-122"/>
                <a:cs typeface="Calibri" pitchFamily="34" charset="-120"/>
              </a:rPr>
              <a:t>Zona de paz</a:t>
            </a:r>
            <a:endParaRPr lang="en-US" sz="1700" dirty="0"/>
          </a:p>
        </p:txBody>
      </p:sp>
      <p:sp>
        <p:nvSpPr>
          <p:cNvPr id="23" name="Text 21"/>
          <p:cNvSpPr/>
          <p:nvPr/>
        </p:nvSpPr>
        <p:spPr>
          <a:xfrm>
            <a:off x="4782312" y="4553712"/>
            <a:ext cx="3017520" cy="914400"/>
          </a:xfrm>
          <a:prstGeom prst="rect">
            <a:avLst/>
          </a:prstGeom>
          <a:noFill/>
          <a:ln/>
        </p:spPr>
        <p:txBody>
          <a:bodyPr wrap="square" lIns="0" tIns="0" rIns="0" bIns="0" rtlCol="0" anchor="ctr"/>
          <a:lstStyle/>
          <a:p>
            <a:pPr indent="0" marL="0">
              <a:lnSpc>
                <a:spcPts val="1800"/>
              </a:lnSpc>
              <a:buNone/>
            </a:pPr>
            <a:r>
              <a:rPr lang="en-US" sz="1250" dirty="0">
                <a:solidFill>
                  <a:srgbClr val="5B7080"/>
                </a:solidFill>
                <a:latin typeface="Calibri" pitchFamily="34" charset="0"/>
                <a:ea typeface="Calibri" pitchFamily="34" charset="-122"/>
                <a:cs typeface="Calibri" pitchFamily="34" charset="-120"/>
              </a:rPr>
              <a:t>Respiración guiada y música hecha en el navegador</a:t>
            </a:r>
            <a:endParaRPr lang="en-US" sz="1250" dirty="0"/>
          </a:p>
        </p:txBody>
      </p:sp>
      <p:sp>
        <p:nvSpPr>
          <p:cNvPr id="24" name="Shape 22"/>
          <p:cNvSpPr/>
          <p:nvPr/>
        </p:nvSpPr>
        <p:spPr>
          <a:xfrm>
            <a:off x="8229600" y="3931920"/>
            <a:ext cx="3429000" cy="1691640"/>
          </a:xfrm>
          <a:prstGeom prst="roundRect">
            <a:avLst>
              <a:gd name="adj" fmla="val 4324"/>
            </a:avLst>
          </a:prstGeom>
          <a:solidFill>
            <a:srgbClr val="FFFFFF"/>
          </a:solidFill>
          <a:ln w="12700">
            <a:solidFill>
              <a:srgbClr val="DCE5E7"/>
            </a:solidFill>
            <a:prstDash val="solid"/>
          </a:ln>
        </p:spPr>
      </p:sp>
      <p:sp>
        <p:nvSpPr>
          <p:cNvPr id="25" name="Shape 23"/>
          <p:cNvSpPr/>
          <p:nvPr/>
        </p:nvSpPr>
        <p:spPr>
          <a:xfrm>
            <a:off x="8229600" y="3931920"/>
            <a:ext cx="73152" cy="1691640"/>
          </a:xfrm>
          <a:prstGeom prst="rect">
            <a:avLst/>
          </a:prstGeom>
          <a:solidFill>
            <a:srgbClr val="E8B53F"/>
          </a:solidFill>
          <a:ln/>
        </p:spPr>
      </p:sp>
      <p:sp>
        <p:nvSpPr>
          <p:cNvPr id="26" name="Text 24"/>
          <p:cNvSpPr/>
          <p:nvPr/>
        </p:nvSpPr>
        <p:spPr>
          <a:xfrm>
            <a:off x="8485632" y="4133088"/>
            <a:ext cx="3017520" cy="365760"/>
          </a:xfrm>
          <a:prstGeom prst="rect">
            <a:avLst/>
          </a:prstGeom>
          <a:noFill/>
          <a:ln/>
        </p:spPr>
        <p:txBody>
          <a:bodyPr wrap="square" lIns="0" tIns="0" rIns="0" bIns="0" rtlCol="0" anchor="ctr"/>
          <a:lstStyle/>
          <a:p>
            <a:pPr indent="0" marL="0">
              <a:buNone/>
            </a:pPr>
            <a:r>
              <a:rPr lang="en-US" sz="1700" b="1" dirty="0">
                <a:solidFill>
                  <a:srgbClr val="0D3143"/>
                </a:solidFill>
                <a:latin typeface="Calibri" pitchFamily="34" charset="0"/>
                <a:ea typeface="Calibri" pitchFamily="34" charset="-122"/>
                <a:cs typeface="Calibri" pitchFamily="34" charset="-120"/>
              </a:rPr>
              <a:t>Regálate momentos</a:t>
            </a:r>
            <a:endParaRPr lang="en-US" sz="1700" dirty="0"/>
          </a:p>
        </p:txBody>
      </p:sp>
      <p:sp>
        <p:nvSpPr>
          <p:cNvPr id="27" name="Text 25"/>
          <p:cNvSpPr/>
          <p:nvPr/>
        </p:nvSpPr>
        <p:spPr>
          <a:xfrm>
            <a:off x="8485632" y="4553712"/>
            <a:ext cx="3017520" cy="914400"/>
          </a:xfrm>
          <a:prstGeom prst="rect">
            <a:avLst/>
          </a:prstGeom>
          <a:noFill/>
          <a:ln/>
        </p:spPr>
        <p:txBody>
          <a:bodyPr wrap="square" lIns="0" tIns="0" rIns="0" bIns="0" rtlCol="0" anchor="ctr"/>
          <a:lstStyle/>
          <a:p>
            <a:pPr indent="0" marL="0">
              <a:lnSpc>
                <a:spcPts val="1800"/>
              </a:lnSpc>
              <a:buNone/>
            </a:pPr>
            <a:r>
              <a:rPr lang="en-US" sz="1250" dirty="0">
                <a:solidFill>
                  <a:srgbClr val="5B7080"/>
                </a:solidFill>
                <a:latin typeface="Calibri" pitchFamily="34" charset="0"/>
                <a:ea typeface="Calibri" pitchFamily="34" charset="-122"/>
                <a:cs typeface="Calibri" pitchFamily="34" charset="-120"/>
              </a:rPr>
              <a:t>105 actividades de bienestar</a:t>
            </a:r>
            <a:endParaRPr lang="en-US" sz="1250" dirty="0"/>
          </a:p>
        </p:txBody>
      </p:sp>
      <p:sp>
        <p:nvSpPr>
          <p:cNvPr id="28" name="Shape 26"/>
          <p:cNvSpPr/>
          <p:nvPr/>
        </p:nvSpPr>
        <p:spPr>
          <a:xfrm>
            <a:off x="0" y="6729984"/>
            <a:ext cx="12191695" cy="128016"/>
          </a:xfrm>
          <a:prstGeom prst="rect">
            <a:avLst/>
          </a:prstGeom>
          <a:solidFill>
            <a:srgbClr val="3F7FB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822960" y="475488"/>
            <a:ext cx="10515600" cy="310896"/>
          </a:xfrm>
          <a:prstGeom prst="rect">
            <a:avLst/>
          </a:prstGeom>
          <a:noFill/>
          <a:ln/>
        </p:spPr>
        <p:txBody>
          <a:bodyPr wrap="square" lIns="0" tIns="0" rIns="0" bIns="0" rtlCol="0" anchor="ctr"/>
          <a:lstStyle/>
          <a:p>
            <a:pPr indent="0" marL="0">
              <a:buNone/>
            </a:pPr>
            <a:r>
              <a:rPr lang="en-US" sz="1200" b="1" spc="200" kern="0" dirty="0">
                <a:solidFill>
                  <a:srgbClr val="E2574C"/>
                </a:solidFill>
                <a:latin typeface="Calibri" pitchFamily="34" charset="0"/>
                <a:ea typeface="Calibri" pitchFamily="34" charset="-122"/>
                <a:cs typeface="Calibri" pitchFamily="34" charset="-120"/>
              </a:rPr>
              <a:t>COLUMNA VERTEBRAL</a:t>
            </a:r>
            <a:endParaRPr lang="en-US" sz="1200" dirty="0"/>
          </a:p>
        </p:txBody>
      </p:sp>
      <p:sp>
        <p:nvSpPr>
          <p:cNvPr id="3" name="Text 1"/>
          <p:cNvSpPr/>
          <p:nvPr/>
        </p:nvSpPr>
        <p:spPr>
          <a:xfrm>
            <a:off x="822960" y="822960"/>
            <a:ext cx="10515600" cy="914400"/>
          </a:xfrm>
          <a:prstGeom prst="rect">
            <a:avLst/>
          </a:prstGeom>
          <a:noFill/>
          <a:ln/>
        </p:spPr>
        <p:txBody>
          <a:bodyPr wrap="square" lIns="0" tIns="0" rIns="0" bIns="0" rtlCol="0" anchor="t"/>
          <a:lstStyle/>
          <a:p>
            <a:pPr indent="0" marL="0">
              <a:buNone/>
            </a:pPr>
            <a:r>
              <a:rPr lang="en-US" sz="3200" b="1" dirty="0">
                <a:solidFill>
                  <a:srgbClr val="0D3143"/>
                </a:solidFill>
                <a:latin typeface="Calibri" pitchFamily="34" charset="0"/>
                <a:ea typeface="Calibri" pitchFamily="34" charset="-122"/>
                <a:cs typeface="Calibri" pitchFamily="34" charset="-120"/>
              </a:rPr>
              <a:t>El botón que nunca se esconde</a:t>
            </a:r>
            <a:endParaRPr lang="en-US" sz="3200" dirty="0"/>
          </a:p>
        </p:txBody>
      </p:sp>
      <p:sp>
        <p:nvSpPr>
          <p:cNvPr id="4" name="Shape 2"/>
          <p:cNvSpPr/>
          <p:nvPr/>
        </p:nvSpPr>
        <p:spPr>
          <a:xfrm>
            <a:off x="868680" y="2148840"/>
            <a:ext cx="3931920" cy="1371600"/>
          </a:xfrm>
          <a:prstGeom prst="roundRect">
            <a:avLst>
              <a:gd name="adj" fmla="val 6667"/>
            </a:avLst>
          </a:prstGeom>
          <a:solidFill>
            <a:srgbClr val="E2574C"/>
          </a:solidFill>
          <a:ln/>
        </p:spPr>
      </p:sp>
      <p:sp>
        <p:nvSpPr>
          <p:cNvPr id="5" name="Text 3"/>
          <p:cNvSpPr/>
          <p:nvPr/>
        </p:nvSpPr>
        <p:spPr>
          <a:xfrm>
            <a:off x="1143000" y="2395728"/>
            <a:ext cx="34747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¿Necesitas ayuda ahora?</a:t>
            </a:r>
            <a:endParaRPr lang="en-US" sz="1500" dirty="0"/>
          </a:p>
        </p:txBody>
      </p:sp>
      <p:sp>
        <p:nvSpPr>
          <p:cNvPr id="6" name="Text 4"/>
          <p:cNvSpPr/>
          <p:nvPr/>
        </p:nvSpPr>
        <p:spPr>
          <a:xfrm>
            <a:off x="1143000" y="2761488"/>
            <a:ext cx="3474720" cy="640080"/>
          </a:xfrm>
          <a:prstGeom prst="rect">
            <a:avLst/>
          </a:prstGeom>
          <a:noFill/>
          <a:ln/>
        </p:spPr>
        <p:txBody>
          <a:bodyPr wrap="square" lIns="0" tIns="0" rIns="0" bIns="0" rtlCol="0" anchor="ctr"/>
          <a:lstStyle/>
          <a:p>
            <a:pPr indent="0" marL="0">
              <a:lnSpc>
                <a:spcPts val="1700"/>
              </a:lnSpc>
              <a:buNone/>
            </a:pPr>
            <a:r>
              <a:rPr lang="en-US" sz="1300" dirty="0">
                <a:solidFill>
                  <a:srgbClr val="FFE3DE"/>
                </a:solidFill>
                <a:latin typeface="Calibri" pitchFamily="34" charset="0"/>
                <a:ea typeface="Calibri" pitchFamily="34" charset="-122"/>
                <a:cs typeface="Calibri" pitchFamily="34" charset="-120"/>
              </a:rPr>
              <a:t>Necesito hablar con</a:t>
            </a:r>
            <a:endParaRPr lang="en-US" sz="1300" dirty="0"/>
          </a:p>
          <a:p>
            <a:pPr indent="0" marL="0">
              <a:lnSpc>
                <a:spcPts val="1700"/>
              </a:lnSpc>
              <a:buNone/>
            </a:pPr>
            <a:r>
              <a:rPr lang="en-US" sz="1300" dirty="0">
                <a:solidFill>
                  <a:srgbClr val="FFE3DE"/>
                </a:solidFill>
                <a:latin typeface="Calibri" pitchFamily="34" charset="0"/>
                <a:ea typeface="Calibri" pitchFamily="34" charset="-122"/>
                <a:cs typeface="Calibri" pitchFamily="34" charset="-120"/>
              </a:rPr>
              <a:t>alguien ahora</a:t>
            </a:r>
            <a:endParaRPr lang="en-US" sz="1300" dirty="0"/>
          </a:p>
        </p:txBody>
      </p:sp>
      <p:sp>
        <p:nvSpPr>
          <p:cNvPr id="7" name="Text 5"/>
          <p:cNvSpPr/>
          <p:nvPr/>
        </p:nvSpPr>
        <p:spPr>
          <a:xfrm>
            <a:off x="868680" y="3703320"/>
            <a:ext cx="3931920" cy="640080"/>
          </a:xfrm>
          <a:prstGeom prst="rect">
            <a:avLst/>
          </a:prstGeom>
          <a:noFill/>
          <a:ln/>
        </p:spPr>
        <p:txBody>
          <a:bodyPr wrap="square" lIns="0" tIns="0" rIns="0" bIns="0" rtlCol="0" anchor="ctr"/>
          <a:lstStyle/>
          <a:p>
            <a:pPr indent="0" marL="0">
              <a:lnSpc>
                <a:spcPts val="1900"/>
              </a:lnSpc>
              <a:buNone/>
            </a:pPr>
            <a:r>
              <a:rPr lang="en-US" sz="1350" dirty="0">
                <a:solidFill>
                  <a:srgbClr val="5B7080"/>
                </a:solidFill>
                <a:latin typeface="Calibri" pitchFamily="34" charset="0"/>
                <a:ea typeface="Calibri" pitchFamily="34" charset="-122"/>
                <a:cs typeface="Calibri" pitchFamily="34" charset="-120"/>
              </a:rPr>
              <a:t>Presente en las seis pestañas. No se puede cerrar por error.</a:t>
            </a:r>
            <a:endParaRPr lang="en-US" sz="1350" dirty="0"/>
          </a:p>
        </p:txBody>
      </p:sp>
      <p:sp>
        <p:nvSpPr>
          <p:cNvPr id="8" name="Text 6"/>
          <p:cNvSpPr/>
          <p:nvPr/>
        </p:nvSpPr>
        <p:spPr>
          <a:xfrm>
            <a:off x="5486400" y="2194560"/>
            <a:ext cx="5852160" cy="2651760"/>
          </a:xfrm>
          <a:prstGeom prst="rect">
            <a:avLst/>
          </a:prstGeom>
          <a:noFill/>
          <a:ln/>
        </p:spPr>
        <p:txBody>
          <a:bodyPr wrap="square" lIns="0" tIns="0" rIns="0" bIns="0" rtlCol="0" anchor="ctr"/>
          <a:lstStyle/>
          <a:p>
            <a:pPr marL="228600" indent="-228600">
              <a:lnSpc>
                <a:spcPts val="2600"/>
              </a:lnSpc>
              <a:spcAft>
                <a:spcPts val="1200"/>
              </a:spcAft>
              <a:buSzPct val="100000"/>
              <a:buChar char="•"/>
            </a:pPr>
            <a:r>
              <a:rPr lang="en-US" sz="1700" dirty="0">
                <a:solidFill>
                  <a:srgbClr val="0D3143"/>
                </a:solidFill>
                <a:latin typeface="Calibri" pitchFamily="34" charset="0"/>
                <a:ea typeface="Calibri" pitchFamily="34" charset="-122"/>
                <a:cs typeface="Calibri" pitchFamily="34" charset="-120"/>
              </a:rPr>
              <a:t>La lista de teléfonos vive en el navegador, no en el servidor.</a:t>
            </a:r>
            <a:endParaRPr lang="en-US" sz="1700" dirty="0"/>
          </a:p>
          <a:p>
            <a:pPr marL="228600" indent="-228600">
              <a:lnSpc>
                <a:spcPts val="2600"/>
              </a:lnSpc>
              <a:spcAft>
                <a:spcPts val="1200"/>
              </a:spcAft>
              <a:buSzPct val="100000"/>
              <a:buChar char="•"/>
            </a:pPr>
            <a:r>
              <a:rPr lang="en-US" sz="1700" dirty="0">
                <a:solidFill>
                  <a:srgbClr val="0D3143"/>
                </a:solidFill>
                <a:latin typeface="Calibri" pitchFamily="34" charset="0"/>
                <a:ea typeface="Calibri" pitchFamily="34" charset="-122"/>
                <a:cs typeface="Calibri" pitchFamily="34" charset="-120"/>
              </a:rPr>
              <a:t>Si el servidor se cae o no hay internet, la ayuda inmediata sigue funcionando.</a:t>
            </a:r>
            <a:endParaRPr lang="en-US" sz="1700" dirty="0"/>
          </a:p>
          <a:p>
            <a:pPr marL="228600" indent="-228600">
              <a:lnSpc>
                <a:spcPts val="2600"/>
              </a:lnSpc>
              <a:spcAft>
                <a:spcPts val="1200"/>
              </a:spcAft>
              <a:buSzPct val="100000"/>
              <a:buChar char="•"/>
            </a:pPr>
            <a:r>
              <a:rPr lang="en-US" sz="1700" dirty="0">
                <a:solidFill>
                  <a:srgbClr val="0D3143"/>
                </a:solidFill>
                <a:latin typeface="Calibri" pitchFamily="34" charset="0"/>
                <a:ea typeface="Calibri" pitchFamily="34" charset="-122"/>
                <a:cs typeface="Calibri" pitchFamily="34" charset="-120"/>
              </a:rPr>
              <a:t>Nunca hay sonido automático ni pop-ups.</a:t>
            </a:r>
            <a:endParaRPr lang="en-US" sz="1700" dirty="0"/>
          </a:p>
          <a:p>
            <a:pPr marL="228600" indent="-228600">
              <a:lnSpc>
                <a:spcPts val="2600"/>
              </a:lnSpc>
              <a:spcAft>
                <a:spcPts val="1200"/>
              </a:spcAft>
              <a:buSzPct val="100000"/>
              <a:buChar char="•"/>
            </a:pPr>
            <a:r>
              <a:rPr lang="en-US" sz="1700" dirty="0">
                <a:solidFill>
                  <a:srgbClr val="0D3143"/>
                </a:solidFill>
                <a:latin typeface="Calibri" pitchFamily="34" charset="0"/>
                <a:ea typeface="Calibri" pitchFamily="34" charset="-122"/>
                <a:cs typeface="Calibri" pitchFamily="34" charset="-120"/>
              </a:rPr>
              <a:t>En crisis, la ayuda no puede depender de nuestra infraestructura.</a:t>
            </a:r>
            <a:endParaRPr lang="en-US" sz="1700" dirty="0"/>
          </a:p>
        </p:txBody>
      </p:sp>
      <p:sp>
        <p:nvSpPr>
          <p:cNvPr id="9" name="Shape 7"/>
          <p:cNvSpPr/>
          <p:nvPr/>
        </p:nvSpPr>
        <p:spPr>
          <a:xfrm>
            <a:off x="5486400" y="5029200"/>
            <a:ext cx="5852160" cy="777240"/>
          </a:xfrm>
          <a:prstGeom prst="roundRect">
            <a:avLst>
              <a:gd name="adj" fmla="val 7059"/>
            </a:avLst>
          </a:prstGeom>
          <a:solidFill>
            <a:srgbClr val="FDECE9"/>
          </a:solidFill>
          <a:ln/>
        </p:spPr>
      </p:sp>
      <p:sp>
        <p:nvSpPr>
          <p:cNvPr id="10" name="Text 8"/>
          <p:cNvSpPr/>
          <p:nvPr/>
        </p:nvSpPr>
        <p:spPr>
          <a:xfrm>
            <a:off x="5760720" y="5230368"/>
            <a:ext cx="5394960" cy="365760"/>
          </a:xfrm>
          <a:prstGeom prst="rect">
            <a:avLst/>
          </a:prstGeom>
          <a:noFill/>
          <a:ln/>
        </p:spPr>
        <p:txBody>
          <a:bodyPr wrap="square" lIns="0" tIns="0" rIns="0" bIns="0" rtlCol="0" anchor="ctr"/>
          <a:lstStyle/>
          <a:p>
            <a:pPr indent="0" marL="0">
              <a:buNone/>
            </a:pPr>
            <a:r>
              <a:rPr lang="en-US" sz="1500" b="1" dirty="0">
                <a:solidFill>
                  <a:srgbClr val="E2574C"/>
                </a:solidFill>
                <a:latin typeface="Calibri" pitchFamily="34" charset="0"/>
                <a:ea typeface="Calibri" pitchFamily="34" charset="-122"/>
                <a:cs typeface="Calibri" pitchFamily="34" charset="-120"/>
              </a:rPr>
              <a:t>Decisión deliberada, no un descuido técnico.</a:t>
            </a:r>
            <a:endParaRPr lang="en-US" sz="1500" dirty="0"/>
          </a:p>
        </p:txBody>
      </p:sp>
      <p:sp>
        <p:nvSpPr>
          <p:cNvPr id="11" name="Shape 9"/>
          <p:cNvSpPr/>
          <p:nvPr/>
        </p:nvSpPr>
        <p:spPr>
          <a:xfrm>
            <a:off x="0" y="6729984"/>
            <a:ext cx="12191695" cy="128016"/>
          </a:xfrm>
          <a:prstGeom prst="rect">
            <a:avLst/>
          </a:prstGeom>
          <a:solidFill>
            <a:srgbClr val="E2574C"/>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822960" y="475488"/>
            <a:ext cx="10515600" cy="310896"/>
          </a:xfrm>
          <a:prstGeom prst="rect">
            <a:avLst/>
          </a:prstGeom>
          <a:noFill/>
          <a:ln/>
        </p:spPr>
        <p:txBody>
          <a:bodyPr wrap="square" lIns="0" tIns="0" rIns="0" bIns="0" rtlCol="0" anchor="ctr"/>
          <a:lstStyle/>
          <a:p>
            <a:pPr indent="0" marL="0">
              <a:buNone/>
            </a:pPr>
            <a:r>
              <a:rPr lang="en-US" sz="1200" b="1" spc="200" kern="0" dirty="0">
                <a:solidFill>
                  <a:srgbClr val="D97BA8"/>
                </a:solidFill>
                <a:latin typeface="Calibri" pitchFamily="34" charset="0"/>
                <a:ea typeface="Calibri" pitchFamily="34" charset="-122"/>
                <a:cs typeface="Calibri" pitchFamily="34" charset="-120"/>
              </a:rPr>
              <a:t>MÓDULO ESTRELLA · PRIVACIDAD</a:t>
            </a:r>
            <a:endParaRPr lang="en-US" sz="1200" dirty="0"/>
          </a:p>
        </p:txBody>
      </p:sp>
      <p:sp>
        <p:nvSpPr>
          <p:cNvPr id="3" name="Text 1"/>
          <p:cNvSpPr/>
          <p:nvPr/>
        </p:nvSpPr>
        <p:spPr>
          <a:xfrm>
            <a:off x="822960" y="822960"/>
            <a:ext cx="10515600" cy="914400"/>
          </a:xfrm>
          <a:prstGeom prst="rect">
            <a:avLst/>
          </a:prstGeom>
          <a:noFill/>
          <a:ln/>
        </p:spPr>
        <p:txBody>
          <a:bodyPr wrap="square" lIns="0" tIns="0" rIns="0" bIns="0" rtlCol="0" anchor="t"/>
          <a:lstStyle/>
          <a:p>
            <a:pPr indent="0" marL="0">
              <a:buNone/>
            </a:pPr>
            <a:r>
              <a:rPr lang="en-US" sz="3000" b="1" dirty="0">
                <a:solidFill>
                  <a:srgbClr val="0D3143"/>
                </a:solidFill>
                <a:latin typeface="Calibri" pitchFamily="34" charset="0"/>
                <a:ea typeface="Calibri" pitchFamily="34" charset="-122"/>
                <a:cs typeface="Calibri" pitchFamily="34" charset="-120"/>
              </a:rPr>
              <a:t>Al viento: escribirlo y soltarlo, sin que lo lea nadie</a:t>
            </a:r>
            <a:endParaRPr lang="en-US" sz="3000" dirty="0"/>
          </a:p>
        </p:txBody>
      </p:sp>
      <p:sp>
        <p:nvSpPr>
          <p:cNvPr id="4" name="Shape 2"/>
          <p:cNvSpPr/>
          <p:nvPr/>
        </p:nvSpPr>
        <p:spPr>
          <a:xfrm>
            <a:off x="868680" y="2286000"/>
            <a:ext cx="2011680" cy="1371600"/>
          </a:xfrm>
          <a:prstGeom prst="roundRect">
            <a:avLst>
              <a:gd name="adj" fmla="val 5333"/>
            </a:avLst>
          </a:prstGeom>
          <a:solidFill>
            <a:srgbClr val="FFFFFF"/>
          </a:solidFill>
          <a:ln w="12700">
            <a:solidFill>
              <a:srgbClr val="E4D3DE"/>
            </a:solidFill>
            <a:prstDash val="solid"/>
          </a:ln>
        </p:spPr>
      </p:sp>
      <p:sp>
        <p:nvSpPr>
          <p:cNvPr id="5" name="Text 3"/>
          <p:cNvSpPr/>
          <p:nvPr/>
        </p:nvSpPr>
        <p:spPr>
          <a:xfrm>
            <a:off x="1014984" y="2395728"/>
            <a:ext cx="457200" cy="365760"/>
          </a:xfrm>
          <a:prstGeom prst="rect">
            <a:avLst/>
          </a:prstGeom>
          <a:noFill/>
          <a:ln/>
        </p:spPr>
        <p:txBody>
          <a:bodyPr wrap="square" lIns="0" tIns="0" rIns="0" bIns="0" rtlCol="0" anchor="ctr"/>
          <a:lstStyle/>
          <a:p>
            <a:pPr indent="0" marL="0">
              <a:buNone/>
            </a:pPr>
            <a:r>
              <a:rPr lang="en-US" sz="1500" b="1" dirty="0">
                <a:solidFill>
                  <a:srgbClr val="D97BA8"/>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14984" y="2798064"/>
            <a:ext cx="1737360" cy="777240"/>
          </a:xfrm>
          <a:prstGeom prst="rect">
            <a:avLst/>
          </a:prstGeom>
          <a:noFill/>
          <a:ln/>
        </p:spPr>
        <p:txBody>
          <a:bodyPr wrap="square" lIns="0" tIns="0" rIns="0" bIns="0" rtlCol="0" anchor="ctr"/>
          <a:lstStyle/>
          <a:p>
            <a:pPr indent="0" marL="0">
              <a:lnSpc>
                <a:spcPts val="1700"/>
              </a:lnSpc>
              <a:buNone/>
            </a:pPr>
            <a:r>
              <a:rPr lang="en-US" sz="1250" dirty="0">
                <a:solidFill>
                  <a:srgbClr val="0D3143"/>
                </a:solidFill>
                <a:latin typeface="Calibri" pitchFamily="34" charset="0"/>
                <a:ea typeface="Calibri" pitchFamily="34" charset="-122"/>
                <a:cs typeface="Calibri" pitchFamily="34" charset="-120"/>
              </a:rPr>
              <a:t>Escribo lo que me pesa</a:t>
            </a:r>
            <a:endParaRPr lang="en-US" sz="1250" dirty="0"/>
          </a:p>
        </p:txBody>
      </p:sp>
      <p:sp>
        <p:nvSpPr>
          <p:cNvPr id="7" name="Text 5"/>
          <p:cNvSpPr/>
          <p:nvPr/>
        </p:nvSpPr>
        <p:spPr>
          <a:xfrm>
            <a:off x="2825496" y="2788920"/>
            <a:ext cx="320040" cy="365760"/>
          </a:xfrm>
          <a:prstGeom prst="rect">
            <a:avLst/>
          </a:prstGeom>
          <a:noFill/>
          <a:ln/>
        </p:spPr>
        <p:txBody>
          <a:bodyPr wrap="square" lIns="0" tIns="0" rIns="0" bIns="0" rtlCol="0" anchor="ctr"/>
          <a:lstStyle/>
          <a:p>
            <a:pPr algn="ctr" indent="0" marL="0">
              <a:buNone/>
            </a:pPr>
            <a:r>
              <a:rPr lang="en-US" sz="1800" dirty="0">
                <a:solidFill>
                  <a:srgbClr val="C9B4C2"/>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3081528" y="2286000"/>
            <a:ext cx="2011680" cy="1371600"/>
          </a:xfrm>
          <a:prstGeom prst="roundRect">
            <a:avLst>
              <a:gd name="adj" fmla="val 5333"/>
            </a:avLst>
          </a:prstGeom>
          <a:solidFill>
            <a:srgbClr val="FFFFFF"/>
          </a:solidFill>
          <a:ln w="12700">
            <a:solidFill>
              <a:srgbClr val="E4D3DE"/>
            </a:solidFill>
            <a:prstDash val="solid"/>
          </a:ln>
        </p:spPr>
      </p:sp>
      <p:sp>
        <p:nvSpPr>
          <p:cNvPr id="9" name="Text 7"/>
          <p:cNvSpPr/>
          <p:nvPr/>
        </p:nvSpPr>
        <p:spPr>
          <a:xfrm>
            <a:off x="3227832" y="2395728"/>
            <a:ext cx="457200" cy="365760"/>
          </a:xfrm>
          <a:prstGeom prst="rect">
            <a:avLst/>
          </a:prstGeom>
          <a:noFill/>
          <a:ln/>
        </p:spPr>
        <p:txBody>
          <a:bodyPr wrap="square" lIns="0" tIns="0" rIns="0" bIns="0" rtlCol="0" anchor="ctr"/>
          <a:lstStyle/>
          <a:p>
            <a:pPr indent="0" marL="0">
              <a:buNone/>
            </a:pPr>
            <a:r>
              <a:rPr lang="en-US" sz="1500" b="1" dirty="0">
                <a:solidFill>
                  <a:srgbClr val="D97BA8"/>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3227832" y="2798064"/>
            <a:ext cx="1737360" cy="777240"/>
          </a:xfrm>
          <a:prstGeom prst="rect">
            <a:avLst/>
          </a:prstGeom>
          <a:noFill/>
          <a:ln/>
        </p:spPr>
        <p:txBody>
          <a:bodyPr wrap="square" lIns="0" tIns="0" rIns="0" bIns="0" rtlCol="0" anchor="ctr"/>
          <a:lstStyle/>
          <a:p>
            <a:pPr indent="0" marL="0">
              <a:lnSpc>
                <a:spcPts val="1700"/>
              </a:lnSpc>
              <a:buNone/>
            </a:pPr>
            <a:r>
              <a:rPr lang="en-US" sz="1250" dirty="0">
                <a:solidFill>
                  <a:srgbClr val="0D3143"/>
                </a:solidFill>
                <a:latin typeface="Calibri" pitchFamily="34" charset="0"/>
                <a:ea typeface="Calibri" pitchFamily="34" charset="-122"/>
                <a:cs typeface="Calibri" pitchFamily="34" charset="-120"/>
              </a:rPr>
              <a:t>Lo suelto al viento</a:t>
            </a:r>
            <a:endParaRPr lang="en-US" sz="1250" dirty="0"/>
          </a:p>
        </p:txBody>
      </p:sp>
      <p:sp>
        <p:nvSpPr>
          <p:cNvPr id="11" name="Text 9"/>
          <p:cNvSpPr/>
          <p:nvPr/>
        </p:nvSpPr>
        <p:spPr>
          <a:xfrm>
            <a:off x="5038344" y="2788920"/>
            <a:ext cx="320040" cy="365760"/>
          </a:xfrm>
          <a:prstGeom prst="rect">
            <a:avLst/>
          </a:prstGeom>
          <a:noFill/>
          <a:ln/>
        </p:spPr>
        <p:txBody>
          <a:bodyPr wrap="square" lIns="0" tIns="0" rIns="0" bIns="0" rtlCol="0" anchor="ctr"/>
          <a:lstStyle/>
          <a:p>
            <a:pPr algn="ctr" indent="0" marL="0">
              <a:buNone/>
            </a:pPr>
            <a:r>
              <a:rPr lang="en-US" sz="1800" dirty="0">
                <a:solidFill>
                  <a:srgbClr val="C9B4C2"/>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294376" y="2286000"/>
            <a:ext cx="2011680" cy="1371600"/>
          </a:xfrm>
          <a:prstGeom prst="roundRect">
            <a:avLst>
              <a:gd name="adj" fmla="val 5333"/>
            </a:avLst>
          </a:prstGeom>
          <a:solidFill>
            <a:srgbClr val="FFFFFF"/>
          </a:solidFill>
          <a:ln w="12700">
            <a:solidFill>
              <a:srgbClr val="E4D3DE"/>
            </a:solidFill>
            <a:prstDash val="solid"/>
          </a:ln>
        </p:spPr>
      </p:sp>
      <p:sp>
        <p:nvSpPr>
          <p:cNvPr id="13" name="Text 11"/>
          <p:cNvSpPr/>
          <p:nvPr/>
        </p:nvSpPr>
        <p:spPr>
          <a:xfrm>
            <a:off x="5440680" y="2395728"/>
            <a:ext cx="457200" cy="365760"/>
          </a:xfrm>
          <a:prstGeom prst="rect">
            <a:avLst/>
          </a:prstGeom>
          <a:noFill/>
          <a:ln/>
        </p:spPr>
        <p:txBody>
          <a:bodyPr wrap="square" lIns="0" tIns="0" rIns="0" bIns="0" rtlCol="0" anchor="ctr"/>
          <a:lstStyle/>
          <a:p>
            <a:pPr indent="0" marL="0">
              <a:buNone/>
            </a:pPr>
            <a:r>
              <a:rPr lang="en-US" sz="1500" b="1" dirty="0">
                <a:solidFill>
                  <a:srgbClr val="D97BA8"/>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5440680" y="2798064"/>
            <a:ext cx="1737360" cy="777240"/>
          </a:xfrm>
          <a:prstGeom prst="rect">
            <a:avLst/>
          </a:prstGeom>
          <a:noFill/>
          <a:ln/>
        </p:spPr>
        <p:txBody>
          <a:bodyPr wrap="square" lIns="0" tIns="0" rIns="0" bIns="0" rtlCol="0" anchor="ctr"/>
          <a:lstStyle/>
          <a:p>
            <a:pPr indent="0" marL="0">
              <a:lnSpc>
                <a:spcPts val="1700"/>
              </a:lnSpc>
              <a:buNone/>
            </a:pPr>
            <a:r>
              <a:rPr lang="en-US" sz="1250" dirty="0">
                <a:solidFill>
                  <a:srgbClr val="0D3143"/>
                </a:solidFill>
                <a:latin typeface="Calibri" pitchFamily="34" charset="0"/>
                <a:ea typeface="Calibri" pitchFamily="34" charset="-122"/>
                <a:cs typeface="Calibri" pitchFamily="34" charset="-120"/>
              </a:rPr>
              <a:t>Se deshace en pétalos</a:t>
            </a:r>
            <a:endParaRPr lang="en-US" sz="1250" dirty="0"/>
          </a:p>
        </p:txBody>
      </p:sp>
      <p:sp>
        <p:nvSpPr>
          <p:cNvPr id="15" name="Text 13"/>
          <p:cNvSpPr/>
          <p:nvPr/>
        </p:nvSpPr>
        <p:spPr>
          <a:xfrm>
            <a:off x="7251192" y="2788920"/>
            <a:ext cx="320040" cy="365760"/>
          </a:xfrm>
          <a:prstGeom prst="rect">
            <a:avLst/>
          </a:prstGeom>
          <a:noFill/>
          <a:ln/>
        </p:spPr>
        <p:txBody>
          <a:bodyPr wrap="square" lIns="0" tIns="0" rIns="0" bIns="0" rtlCol="0" anchor="ctr"/>
          <a:lstStyle/>
          <a:p>
            <a:pPr algn="ctr" indent="0" marL="0">
              <a:buNone/>
            </a:pPr>
            <a:r>
              <a:rPr lang="en-US" sz="1800" dirty="0">
                <a:solidFill>
                  <a:srgbClr val="C9B4C2"/>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507224" y="2286000"/>
            <a:ext cx="2011680" cy="1371600"/>
          </a:xfrm>
          <a:prstGeom prst="roundRect">
            <a:avLst>
              <a:gd name="adj" fmla="val 5333"/>
            </a:avLst>
          </a:prstGeom>
          <a:solidFill>
            <a:srgbClr val="FFFFFF"/>
          </a:solidFill>
          <a:ln w="12700">
            <a:solidFill>
              <a:srgbClr val="E4D3DE"/>
            </a:solidFill>
            <a:prstDash val="solid"/>
          </a:ln>
        </p:spPr>
      </p:sp>
      <p:sp>
        <p:nvSpPr>
          <p:cNvPr id="17" name="Text 15"/>
          <p:cNvSpPr/>
          <p:nvPr/>
        </p:nvSpPr>
        <p:spPr>
          <a:xfrm>
            <a:off x="7653528" y="2395728"/>
            <a:ext cx="457200" cy="365760"/>
          </a:xfrm>
          <a:prstGeom prst="rect">
            <a:avLst/>
          </a:prstGeom>
          <a:noFill/>
          <a:ln/>
        </p:spPr>
        <p:txBody>
          <a:bodyPr wrap="square" lIns="0" tIns="0" rIns="0" bIns="0" rtlCol="0" anchor="ctr"/>
          <a:lstStyle/>
          <a:p>
            <a:pPr indent="0" marL="0">
              <a:buNone/>
            </a:pPr>
            <a:r>
              <a:rPr lang="en-US" sz="1500" b="1" dirty="0">
                <a:solidFill>
                  <a:srgbClr val="D97BA8"/>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7653528" y="2798064"/>
            <a:ext cx="1737360" cy="777240"/>
          </a:xfrm>
          <a:prstGeom prst="rect">
            <a:avLst/>
          </a:prstGeom>
          <a:noFill/>
          <a:ln/>
        </p:spPr>
        <p:txBody>
          <a:bodyPr wrap="square" lIns="0" tIns="0" rIns="0" bIns="0" rtlCol="0" anchor="ctr"/>
          <a:lstStyle/>
          <a:p>
            <a:pPr indent="0" marL="0">
              <a:lnSpc>
                <a:spcPts val="1700"/>
              </a:lnSpc>
              <a:buNone/>
            </a:pPr>
            <a:r>
              <a:rPr lang="en-US" sz="1250" dirty="0">
                <a:solidFill>
                  <a:srgbClr val="0D3143"/>
                </a:solidFill>
                <a:latin typeface="Calibri" pitchFamily="34" charset="0"/>
                <a:ea typeface="Calibri" pitchFamily="34" charset="-122"/>
                <a:cs typeface="Calibri" pitchFamily="34" charset="-120"/>
              </a:rPr>
              <a:t>Nace una flor o una mariposa</a:t>
            </a:r>
            <a:endParaRPr lang="en-US" sz="1250" dirty="0"/>
          </a:p>
        </p:txBody>
      </p:sp>
      <p:sp>
        <p:nvSpPr>
          <p:cNvPr id="19" name="Text 17"/>
          <p:cNvSpPr/>
          <p:nvPr/>
        </p:nvSpPr>
        <p:spPr>
          <a:xfrm>
            <a:off x="9464040" y="2788920"/>
            <a:ext cx="320040" cy="365760"/>
          </a:xfrm>
          <a:prstGeom prst="rect">
            <a:avLst/>
          </a:prstGeom>
          <a:noFill/>
          <a:ln/>
        </p:spPr>
        <p:txBody>
          <a:bodyPr wrap="square" lIns="0" tIns="0" rIns="0" bIns="0" rtlCol="0" anchor="ctr"/>
          <a:lstStyle/>
          <a:p>
            <a:pPr algn="ctr" indent="0" marL="0">
              <a:buNone/>
            </a:pPr>
            <a:r>
              <a:rPr lang="en-US" sz="1800" dirty="0">
                <a:solidFill>
                  <a:srgbClr val="C9B4C2"/>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9720072" y="2286000"/>
            <a:ext cx="2011680" cy="1371600"/>
          </a:xfrm>
          <a:prstGeom prst="roundRect">
            <a:avLst>
              <a:gd name="adj" fmla="val 5333"/>
            </a:avLst>
          </a:prstGeom>
          <a:solidFill>
            <a:srgbClr val="FFFFFF"/>
          </a:solidFill>
          <a:ln w="12700">
            <a:solidFill>
              <a:srgbClr val="E4D3DE"/>
            </a:solidFill>
            <a:prstDash val="solid"/>
          </a:ln>
        </p:spPr>
      </p:sp>
      <p:sp>
        <p:nvSpPr>
          <p:cNvPr id="21" name="Text 19"/>
          <p:cNvSpPr/>
          <p:nvPr/>
        </p:nvSpPr>
        <p:spPr>
          <a:xfrm>
            <a:off x="9866376" y="2395728"/>
            <a:ext cx="457200" cy="365760"/>
          </a:xfrm>
          <a:prstGeom prst="rect">
            <a:avLst/>
          </a:prstGeom>
          <a:noFill/>
          <a:ln/>
        </p:spPr>
        <p:txBody>
          <a:bodyPr wrap="square" lIns="0" tIns="0" rIns="0" bIns="0" rtlCol="0" anchor="ctr"/>
          <a:lstStyle/>
          <a:p>
            <a:pPr indent="0" marL="0">
              <a:buNone/>
            </a:pPr>
            <a:r>
              <a:rPr lang="en-US" sz="1500" b="1" dirty="0">
                <a:solidFill>
                  <a:srgbClr val="D97BA8"/>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9866376" y="2798064"/>
            <a:ext cx="1737360" cy="777240"/>
          </a:xfrm>
          <a:prstGeom prst="rect">
            <a:avLst/>
          </a:prstGeom>
          <a:noFill/>
          <a:ln/>
        </p:spPr>
        <p:txBody>
          <a:bodyPr wrap="square" lIns="0" tIns="0" rIns="0" bIns="0" rtlCol="0" anchor="ctr"/>
          <a:lstStyle/>
          <a:p>
            <a:pPr indent="0" marL="0">
              <a:lnSpc>
                <a:spcPts val="1700"/>
              </a:lnSpc>
              <a:buNone/>
            </a:pPr>
            <a:r>
              <a:rPr lang="en-US" sz="1250" dirty="0">
                <a:solidFill>
                  <a:srgbClr val="0D3143"/>
                </a:solidFill>
                <a:latin typeface="Calibri" pitchFamily="34" charset="0"/>
                <a:ea typeface="Calibri" pitchFamily="34" charset="-122"/>
                <a:cs typeface="Calibri" pitchFamily="34" charset="-120"/>
              </a:rPr>
              <a:t>«El viento ya se lo llevó»</a:t>
            </a:r>
            <a:endParaRPr lang="en-US" sz="1250" dirty="0"/>
          </a:p>
        </p:txBody>
      </p:sp>
      <p:sp>
        <p:nvSpPr>
          <p:cNvPr id="23" name="Shape 21"/>
          <p:cNvSpPr/>
          <p:nvPr/>
        </p:nvSpPr>
        <p:spPr>
          <a:xfrm>
            <a:off x="868680" y="4160520"/>
            <a:ext cx="10424160" cy="1417320"/>
          </a:xfrm>
          <a:prstGeom prst="roundRect">
            <a:avLst>
              <a:gd name="adj" fmla="val 5161"/>
            </a:avLst>
          </a:prstGeom>
          <a:solidFill>
            <a:srgbClr val="0D3143"/>
          </a:solidFill>
          <a:ln/>
        </p:spPr>
      </p:sp>
      <p:sp>
        <p:nvSpPr>
          <p:cNvPr id="24" name="Text 22"/>
          <p:cNvSpPr/>
          <p:nvPr/>
        </p:nvSpPr>
        <p:spPr>
          <a:xfrm>
            <a:off x="1234440" y="4407408"/>
            <a:ext cx="969264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Lo que la persona escribe solo existe mientras escribe.</a:t>
            </a:r>
            <a:endParaRPr lang="en-US" sz="2000" dirty="0"/>
          </a:p>
        </p:txBody>
      </p:sp>
      <p:sp>
        <p:nvSpPr>
          <p:cNvPr id="25" name="Text 23"/>
          <p:cNvSpPr/>
          <p:nvPr/>
        </p:nvSpPr>
        <p:spPr>
          <a:xfrm>
            <a:off x="1234440" y="4864608"/>
            <a:ext cx="9692640" cy="548640"/>
          </a:xfrm>
          <a:prstGeom prst="rect">
            <a:avLst/>
          </a:prstGeom>
          <a:noFill/>
          <a:ln/>
        </p:spPr>
        <p:txBody>
          <a:bodyPr wrap="square" lIns="0" tIns="0" rIns="0" bIns="0" rtlCol="0" anchor="ctr"/>
          <a:lstStyle/>
          <a:p>
            <a:pPr indent="0" marL="0">
              <a:lnSpc>
                <a:spcPts val="2000"/>
              </a:lnSpc>
              <a:buNone/>
            </a:pPr>
            <a:r>
              <a:rPr lang="en-US" sz="1400" dirty="0">
                <a:solidFill>
                  <a:srgbClr val="A9C4CE"/>
                </a:solidFill>
                <a:latin typeface="Calibri" pitchFamily="34" charset="0"/>
                <a:ea typeface="Calibri" pitchFamily="34" charset="-122"/>
                <a:cs typeface="Calibri" pitchFamily="34" charset="-120"/>
              </a:rPr>
              <a:t>No hay cuentas, ni analítica, ni ubicación, ni almacenamiento. Se borra de la memoria al ejecutar la animación y nunca viaja al servidor.</a:t>
            </a:r>
            <a:endParaRPr lang="en-US" sz="1400" dirty="0"/>
          </a:p>
        </p:txBody>
      </p:sp>
      <p:sp>
        <p:nvSpPr>
          <p:cNvPr id="26" name="Shape 24"/>
          <p:cNvSpPr/>
          <p:nvPr/>
        </p:nvSpPr>
        <p:spPr>
          <a:xfrm>
            <a:off x="0" y="6729984"/>
            <a:ext cx="12191695" cy="128016"/>
          </a:xfrm>
          <a:prstGeom prst="rect">
            <a:avLst/>
          </a:prstGeom>
          <a:solidFill>
            <a:srgbClr val="D97BA8"/>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3143"/>
        </a:solidFill>
      </p:bgPr>
    </p:bg>
    <p:spTree>
      <p:nvGrpSpPr>
        <p:cNvPr id="1" name=""/>
        <p:cNvGrpSpPr/>
        <p:nvPr/>
      </p:nvGrpSpPr>
      <p:grpSpPr>
        <a:xfrm>
          <a:off x="0" y="0"/>
          <a:ext cx="0" cy="0"/>
          <a:chOff x="0" y="0"/>
          <a:chExt cx="0" cy="0"/>
        </a:xfrm>
      </p:grpSpPr>
      <p:sp>
        <p:nvSpPr>
          <p:cNvPr id="2" name="Text 0"/>
          <p:cNvSpPr/>
          <p:nvPr/>
        </p:nvSpPr>
        <p:spPr>
          <a:xfrm>
            <a:off x="822960" y="777240"/>
            <a:ext cx="10515600" cy="310896"/>
          </a:xfrm>
          <a:prstGeom prst="rect">
            <a:avLst/>
          </a:prstGeom>
          <a:noFill/>
          <a:ln/>
        </p:spPr>
        <p:txBody>
          <a:bodyPr wrap="square" lIns="0" tIns="0" rIns="0" bIns="0" rtlCol="0" anchor="ctr"/>
          <a:lstStyle/>
          <a:p>
            <a:pPr indent="0" marL="0">
              <a:buNone/>
            </a:pPr>
            <a:r>
              <a:rPr lang="en-US" sz="1200" b="1" spc="200" kern="0" dirty="0">
                <a:solidFill>
                  <a:srgbClr val="3FA89B"/>
                </a:solidFill>
                <a:latin typeface="Calibri" pitchFamily="34" charset="0"/>
                <a:ea typeface="Calibri" pitchFamily="34" charset="-122"/>
                <a:cs typeface="Calibri" pitchFamily="34" charset="-120"/>
              </a:rPr>
              <a:t>HONESTIDAD VERIFICABLE</a:t>
            </a:r>
            <a:endParaRPr lang="en-US" sz="1200" dirty="0"/>
          </a:p>
        </p:txBody>
      </p:sp>
      <p:sp>
        <p:nvSpPr>
          <p:cNvPr id="3" name="Text 1"/>
          <p:cNvSpPr/>
          <p:nvPr/>
        </p:nvSpPr>
        <p:spPr>
          <a:xfrm>
            <a:off x="822960" y="1188720"/>
            <a:ext cx="10515600" cy="9144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Retiramos el 106</a:t>
            </a:r>
            <a:endParaRPr lang="en-US" sz="4000" dirty="0"/>
          </a:p>
        </p:txBody>
      </p:sp>
      <p:sp>
        <p:nvSpPr>
          <p:cNvPr id="4" name="Text 2"/>
          <p:cNvSpPr/>
          <p:nvPr/>
        </p:nvSpPr>
        <p:spPr>
          <a:xfrm>
            <a:off x="868680" y="2194560"/>
            <a:ext cx="6309360" cy="3291840"/>
          </a:xfrm>
          <a:prstGeom prst="rect">
            <a:avLst/>
          </a:prstGeom>
          <a:noFill/>
          <a:ln/>
        </p:spPr>
        <p:txBody>
          <a:bodyPr wrap="square" lIns="0" tIns="0" rIns="0" bIns="0" rtlCol="0" anchor="ctr"/>
          <a:lstStyle/>
          <a:p>
            <a:pPr indent="0" marL="0">
              <a:lnSpc>
                <a:spcPts val="2900"/>
              </a:lnSpc>
              <a:buNone/>
            </a:pPr>
            <a:r>
              <a:rPr lang="en-US" sz="1900" dirty="0">
                <a:solidFill>
                  <a:srgbClr val="B9D4DC"/>
                </a:solidFill>
                <a:latin typeface="Calibri" pitchFamily="34" charset="0"/>
                <a:ea typeface="Calibri" pitchFamily="34" charset="-122"/>
                <a:cs typeface="Calibri" pitchFamily="34" charset="-120"/>
              </a:rPr>
              <a:t>Es la línea nacional de salud mental.
Todos asumimos que funciona aquí.
</a:t>
            </a:r>
            <a:pPr indent="0" marL="0">
              <a:lnSpc>
                <a:spcPts val="2900"/>
              </a:lnSpc>
              <a:buNone/>
            </a:pPr>
            <a:r>
              <a:rPr lang="en-US" sz="1900" b="1" dirty="0">
                <a:solidFill>
                  <a:srgbClr val="FFFFFF"/>
                </a:solidFill>
                <a:latin typeface="Calibri" pitchFamily="34" charset="0"/>
                <a:ea typeface="Calibri" pitchFamily="34" charset="-122"/>
                <a:cs typeface="Calibri" pitchFamily="34" charset="-120"/>
              </a:rPr>
              <a:t>
No encontramos fuente que confirmara su disponibilidad en Villavicencio.
</a:t>
            </a:r>
            <a:pPr indent="0" marL="0">
              <a:lnSpc>
                <a:spcPts val="2900"/>
              </a:lnSpc>
              <a:buNone/>
            </a:pPr>
            <a:endParaRPr lang="en-US" sz="1900" dirty="0"/>
          </a:p>
          <a:p>
            <a:pPr indent="0" marL="0">
              <a:lnSpc>
                <a:spcPts val="2900"/>
              </a:lnSpc>
              <a:buNone/>
            </a:pPr>
            <a:r>
              <a:rPr lang="en-US" sz="1900" i="1" dirty="0">
                <a:solidFill>
                  <a:srgbClr val="3FA89B"/>
                </a:solidFill>
                <a:latin typeface="Calibri" pitchFamily="34" charset="0"/>
                <a:ea typeface="Calibri" pitchFamily="34" charset="-122"/>
                <a:cs typeface="Calibri" pitchFamily="34" charset="-120"/>
              </a:rPr>
              <a:t>Así que no está. Y una prueba automática impide que vuelva sin verificarse.</a:t>
            </a:r>
            <a:endParaRPr lang="en-US" sz="1900" dirty="0"/>
          </a:p>
        </p:txBody>
      </p:sp>
      <p:sp>
        <p:nvSpPr>
          <p:cNvPr id="5" name="Shape 3"/>
          <p:cNvSpPr/>
          <p:nvPr/>
        </p:nvSpPr>
        <p:spPr>
          <a:xfrm>
            <a:off x="7635240" y="2194560"/>
            <a:ext cx="3703320" cy="3291840"/>
          </a:xfrm>
          <a:prstGeom prst="roundRect">
            <a:avLst>
              <a:gd name="adj" fmla="val 2222"/>
            </a:avLst>
          </a:prstGeom>
          <a:solidFill>
            <a:srgbClr val="14405A"/>
          </a:solidFill>
          <a:ln/>
        </p:spPr>
      </p:sp>
      <p:sp>
        <p:nvSpPr>
          <p:cNvPr id="6" name="Shape 4"/>
          <p:cNvSpPr/>
          <p:nvPr/>
        </p:nvSpPr>
        <p:spPr>
          <a:xfrm>
            <a:off x="7635240" y="2194560"/>
            <a:ext cx="3703320" cy="91440"/>
          </a:xfrm>
          <a:prstGeom prst="rect">
            <a:avLst/>
          </a:prstGeom>
          <a:solidFill>
            <a:srgbClr val="3FA89B"/>
          </a:solidFill>
          <a:ln/>
        </p:spPr>
      </p:sp>
      <p:sp>
        <p:nvSpPr>
          <p:cNvPr id="7" name="Text 5"/>
          <p:cNvSpPr/>
          <p:nvPr/>
        </p:nvSpPr>
        <p:spPr>
          <a:xfrm>
            <a:off x="7955280" y="2514600"/>
            <a:ext cx="3108960" cy="320040"/>
          </a:xfrm>
          <a:prstGeom prst="rect">
            <a:avLst/>
          </a:prstGeom>
          <a:noFill/>
          <a:ln/>
        </p:spPr>
        <p:txBody>
          <a:bodyPr wrap="square" lIns="0" tIns="0" rIns="0" bIns="0" rtlCol="0" anchor="ctr"/>
          <a:lstStyle/>
          <a:p>
            <a:pPr indent="0" marL="0">
              <a:buNone/>
            </a:pPr>
            <a:r>
              <a:rPr lang="en-US" sz="1200" b="1" spc="200" kern="0" dirty="0">
                <a:solidFill>
                  <a:srgbClr val="3FA89B"/>
                </a:solidFill>
                <a:latin typeface="Calibri" pitchFamily="34" charset="0"/>
                <a:ea typeface="Calibri" pitchFamily="34" charset="-122"/>
                <a:cs typeface="Calibri" pitchFamily="34" charset="-120"/>
              </a:rPr>
              <a:t>En su lugar</a:t>
            </a:r>
            <a:endParaRPr lang="en-US" sz="1200" dirty="0"/>
          </a:p>
        </p:txBody>
      </p:sp>
      <p:sp>
        <p:nvSpPr>
          <p:cNvPr id="8" name="Text 6"/>
          <p:cNvSpPr/>
          <p:nvPr/>
        </p:nvSpPr>
        <p:spPr>
          <a:xfrm>
            <a:off x="7955280" y="2926080"/>
            <a:ext cx="310896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Yo Te Escucho</a:t>
            </a:r>
            <a:endParaRPr lang="en-US" sz="2600" dirty="0"/>
          </a:p>
        </p:txBody>
      </p:sp>
      <p:sp>
        <p:nvSpPr>
          <p:cNvPr id="9" name="Text 7"/>
          <p:cNvSpPr/>
          <p:nvPr/>
        </p:nvSpPr>
        <p:spPr>
          <a:xfrm>
            <a:off x="7955280" y="3474720"/>
            <a:ext cx="3108960" cy="731520"/>
          </a:xfrm>
          <a:prstGeom prst="rect">
            <a:avLst/>
          </a:prstGeom>
          <a:noFill/>
          <a:ln/>
        </p:spPr>
        <p:txBody>
          <a:bodyPr wrap="square" lIns="0" tIns="0" rIns="0" bIns="0" rtlCol="0" anchor="ctr"/>
          <a:lstStyle/>
          <a:p>
            <a:pPr indent="0" marL="0">
              <a:lnSpc>
                <a:spcPts val="1900"/>
              </a:lnSpc>
              <a:buNone/>
            </a:pPr>
            <a:r>
              <a:rPr lang="en-US" sz="1350" dirty="0">
                <a:solidFill>
                  <a:srgbClr val="A9C4CE"/>
                </a:solidFill>
                <a:latin typeface="Calibri" pitchFamily="34" charset="0"/>
                <a:ea typeface="Calibri" pitchFamily="34" charset="-122"/>
                <a:cs typeface="Calibri" pitchFamily="34" charset="-120"/>
              </a:rPr>
              <a:t>Línea local verificada de la Alcaldía de Villavicencio. 24/7.</a:t>
            </a:r>
            <a:endParaRPr lang="en-US" sz="1350" dirty="0"/>
          </a:p>
        </p:txBody>
      </p:sp>
      <p:sp>
        <p:nvSpPr>
          <p:cNvPr id="10" name="Shape 8"/>
          <p:cNvSpPr/>
          <p:nvPr/>
        </p:nvSpPr>
        <p:spPr>
          <a:xfrm>
            <a:off x="7955280" y="4343400"/>
            <a:ext cx="3108960" cy="0"/>
          </a:xfrm>
          <a:prstGeom prst="line">
            <a:avLst/>
          </a:prstGeom>
          <a:noFill/>
          <a:ln w="12700">
            <a:solidFill>
              <a:srgbClr val="2A5C74"/>
            </a:solidFill>
            <a:prstDash val="solid"/>
          </a:ln>
        </p:spPr>
      </p:sp>
      <p:sp>
        <p:nvSpPr>
          <p:cNvPr id="11" name="Text 9"/>
          <p:cNvSpPr/>
          <p:nvPr/>
        </p:nvSpPr>
        <p:spPr>
          <a:xfrm>
            <a:off x="7955280" y="4526280"/>
            <a:ext cx="3108960" cy="822960"/>
          </a:xfrm>
          <a:prstGeom prst="rect">
            <a:avLst/>
          </a:prstGeom>
          <a:noFill/>
          <a:ln/>
        </p:spPr>
        <p:txBody>
          <a:bodyPr wrap="square" lIns="0" tIns="0" rIns="0" bIns="0" rtlCol="0" anchor="ctr"/>
          <a:lstStyle/>
          <a:p>
            <a:pPr indent="0" marL="0">
              <a:lnSpc>
                <a:spcPts val="2000"/>
              </a:lnSpc>
              <a:buNone/>
            </a:pPr>
            <a:r>
              <a:rPr lang="en-US" sz="1400" i="1" dirty="0">
                <a:solidFill>
                  <a:srgbClr val="FFFFFF"/>
                </a:solidFill>
                <a:latin typeface="Calibri" pitchFamily="34" charset="0"/>
                <a:ea typeface="Calibri" pitchFamily="34" charset="-122"/>
                <a:cs typeface="Calibri" pitchFamily="34" charset="-120"/>
              </a:rPr>
              <a:t>«Preferimos una opción de menos</a:t>
            </a:r>
            <a:endParaRPr lang="en-US" sz="1400" dirty="0"/>
          </a:p>
          <a:p>
            <a:pPr indent="0" marL="0">
              <a:lnSpc>
                <a:spcPts val="2000"/>
              </a:lnSpc>
              <a:buNone/>
            </a:pPr>
            <a:r>
              <a:rPr lang="en-US" sz="1400" i="1" dirty="0">
                <a:solidFill>
                  <a:srgbClr val="FFFFFF"/>
                </a:solidFill>
                <a:latin typeface="Calibri" pitchFamily="34" charset="0"/>
                <a:ea typeface="Calibri" pitchFamily="34" charset="-122"/>
                <a:cs typeface="Calibri" pitchFamily="34" charset="-120"/>
              </a:rPr>
              <a:t>antes que una opción dudosa.»</a:t>
            </a:r>
            <a:endParaRPr lang="en-US" sz="1400" dirty="0"/>
          </a:p>
        </p:txBody>
      </p:sp>
      <p:sp>
        <p:nvSpPr>
          <p:cNvPr id="12" name="Shape 10"/>
          <p:cNvSpPr/>
          <p:nvPr/>
        </p:nvSpPr>
        <p:spPr>
          <a:xfrm>
            <a:off x="0" y="6729984"/>
            <a:ext cx="12191695" cy="128016"/>
          </a:xfrm>
          <a:prstGeom prst="rect">
            <a:avLst/>
          </a:prstGeom>
          <a:solidFill>
            <a:srgbClr val="3FA89B"/>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822960" y="475488"/>
            <a:ext cx="10515600" cy="310896"/>
          </a:xfrm>
          <a:prstGeom prst="rect">
            <a:avLst/>
          </a:prstGeom>
          <a:noFill/>
          <a:ln/>
        </p:spPr>
        <p:txBody>
          <a:bodyPr wrap="square" lIns="0" tIns="0" rIns="0" bIns="0" rtlCol="0" anchor="ctr"/>
          <a:lstStyle/>
          <a:p>
            <a:pPr indent="0" marL="0">
              <a:buNone/>
            </a:pPr>
            <a:r>
              <a:rPr lang="en-US" sz="1200" b="1" spc="200" kern="0" dirty="0">
                <a:solidFill>
                  <a:srgbClr val="3F7FBF"/>
                </a:solidFill>
                <a:latin typeface="Calibri" pitchFamily="34" charset="0"/>
                <a:ea typeface="Calibri" pitchFamily="34" charset="-122"/>
                <a:cs typeface="Calibri" pitchFamily="34" charset="-120"/>
              </a:rPr>
              <a:t>TODO DATO LLEVA QUIÉN LO DICE Y CUÁNDO SE COMPROBÓ</a:t>
            </a:r>
            <a:endParaRPr lang="en-US" sz="1200" dirty="0"/>
          </a:p>
        </p:txBody>
      </p:sp>
      <p:sp>
        <p:nvSpPr>
          <p:cNvPr id="3" name="Text 1"/>
          <p:cNvSpPr/>
          <p:nvPr/>
        </p:nvSpPr>
        <p:spPr>
          <a:xfrm>
            <a:off x="822960" y="822960"/>
            <a:ext cx="10515600" cy="914400"/>
          </a:xfrm>
          <a:prstGeom prst="rect">
            <a:avLst/>
          </a:prstGeom>
          <a:noFill/>
          <a:ln/>
        </p:spPr>
        <p:txBody>
          <a:bodyPr wrap="square" lIns="0" tIns="0" rIns="0" bIns="0" rtlCol="0" anchor="t"/>
          <a:lstStyle/>
          <a:p>
            <a:pPr indent="0" marL="0">
              <a:buNone/>
            </a:pPr>
            <a:r>
              <a:rPr lang="en-US" sz="3000" b="1" dirty="0">
                <a:solidFill>
                  <a:srgbClr val="0D3143"/>
                </a:solidFill>
                <a:latin typeface="Calibri" pitchFamily="34" charset="0"/>
                <a:ea typeface="Calibri" pitchFamily="34" charset="-122"/>
                <a:cs typeface="Calibri" pitchFamily="34" charset="-120"/>
              </a:rPr>
              <a:t>Los canales publicados hoy</a:t>
            </a:r>
            <a:endParaRPr lang="en-US" sz="3000" dirty="0"/>
          </a:p>
        </p:txBody>
      </p:sp>
      <p:sp>
        <p:nvSpPr>
          <p:cNvPr id="4" name="Text 2"/>
          <p:cNvSpPr/>
          <p:nvPr/>
        </p:nvSpPr>
        <p:spPr>
          <a:xfrm>
            <a:off x="868680" y="1874520"/>
            <a:ext cx="5486400" cy="274320"/>
          </a:xfrm>
          <a:prstGeom prst="rect">
            <a:avLst/>
          </a:prstGeom>
          <a:noFill/>
          <a:ln/>
        </p:spPr>
        <p:txBody>
          <a:bodyPr wrap="square" lIns="0" tIns="0" rIns="0" bIns="0" rtlCol="0" anchor="ctr"/>
          <a:lstStyle/>
          <a:p>
            <a:pPr indent="0" marL="0">
              <a:buNone/>
            </a:pPr>
            <a:r>
              <a:rPr lang="en-US" sz="1150" b="1" spc="150" kern="0" dirty="0">
                <a:solidFill>
                  <a:srgbClr val="3FA89B"/>
                </a:solidFill>
                <a:latin typeface="Calibri" pitchFamily="34" charset="0"/>
                <a:ea typeface="Calibri" pitchFamily="34" charset="-122"/>
                <a:cs typeface="Calibri" pitchFamily="34" charset="-120"/>
              </a:rPr>
              <a:t>LÍNEAS DE AYUDA  ·  consulta: octubre de 2026</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68680" y="2194560"/>
          <a:ext cx="5486400" cy="914400"/>
        </p:xfrm>
        <a:graphic>
          <a:graphicData uri="http://schemas.openxmlformats.org/drawingml/2006/table">
            <a:tbl>
              <a:tblPr/>
              <a:tblGrid>
                <a:gridCol w="1554480"/>
                <a:gridCol w="2194560"/>
                <a:gridCol w="1737360"/>
              </a:tblGrid>
              <a:tr h="384048">
                <a:tc>
                  <a:txBody>
                    <a:bodyPr/>
                    <a:lstStyle/>
                    <a:p>
                      <a:pPr indent="0" marL="0">
                        <a:buNone/>
                      </a:pPr>
                      <a:r>
                        <a:rPr lang="en-US" sz="1050" b="1" dirty="0">
                          <a:solidFill>
                            <a:srgbClr val="0D3143"/>
                          </a:solidFill>
                          <a:latin typeface="Calibri" pitchFamily="34" charset="0"/>
                          <a:ea typeface="Calibri" pitchFamily="34" charset="-122"/>
                          <a:cs typeface="Calibri" pitchFamily="34" charset="-120"/>
                        </a:rPr>
                        <a:t>Canal</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b="1" dirty="0">
                          <a:solidFill>
                            <a:srgbClr val="0D3143"/>
                          </a:solidFill>
                          <a:latin typeface="Calibri" pitchFamily="34" charset="0"/>
                          <a:ea typeface="Calibri" pitchFamily="34" charset="-122"/>
                          <a:cs typeface="Calibri" pitchFamily="34" charset="-120"/>
                        </a:rPr>
                        <a:t>Contacto</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b="1" dirty="0">
                          <a:solidFill>
                            <a:srgbClr val="0D3143"/>
                          </a:solidFill>
                          <a:latin typeface="Calibri" pitchFamily="34" charset="0"/>
                          <a:ea typeface="Calibri" pitchFamily="34" charset="-122"/>
                          <a:cs typeface="Calibri" pitchFamily="34" charset="-120"/>
                        </a:rPr>
                        <a:t>Fuente</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Yo Te Escucho</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01 8000 931 089 · WA 316 390 7010</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Alcaldía de Villavicencio</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Línea Amiga — Meta</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#775 · 312 575 1135</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Gobernación del Meta</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Línea Violeta</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316 742 6938</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Secretaría de la Mujer</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Emergencias</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123</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Línea nacional</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bl>
          </a:graphicData>
        </a:graphic>
      </p:graphicFrame>
      <p:sp>
        <p:nvSpPr>
          <p:cNvPr id="6" name="Text 3"/>
          <p:cNvSpPr/>
          <p:nvPr/>
        </p:nvSpPr>
        <p:spPr>
          <a:xfrm>
            <a:off x="6720840" y="1874520"/>
            <a:ext cx="4663440" cy="274320"/>
          </a:xfrm>
          <a:prstGeom prst="rect">
            <a:avLst/>
          </a:prstGeom>
          <a:noFill/>
          <a:ln/>
        </p:spPr>
        <p:txBody>
          <a:bodyPr wrap="square" lIns="0" tIns="0" rIns="0" bIns="0" rtlCol="0" anchor="ctr"/>
          <a:lstStyle/>
          <a:p>
            <a:pPr indent="0" marL="0">
              <a:buNone/>
            </a:pPr>
            <a:r>
              <a:rPr lang="en-US" sz="1150" b="1" spc="150" kern="0" dirty="0">
                <a:solidFill>
                  <a:srgbClr val="3FA89B"/>
                </a:solidFill>
                <a:latin typeface="Calibri" pitchFamily="34" charset="0"/>
                <a:ea typeface="Calibri" pitchFamily="34" charset="-122"/>
                <a:cs typeface="Calibri" pitchFamily="34" charset="-120"/>
              </a:rPr>
              <a:t>CENTROS PRESENCIALES  ·  consulta: octubre de 2026</a:t>
            </a:r>
            <a:endParaRPr lang="en-US" sz="11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720840" y="2194560"/>
          <a:ext cx="4663440" cy="914400"/>
        </p:xfrm>
        <a:graphic>
          <a:graphicData uri="http://schemas.openxmlformats.org/drawingml/2006/table">
            <a:tbl>
              <a:tblPr/>
              <a:tblGrid>
                <a:gridCol w="2103120"/>
                <a:gridCol w="2560320"/>
              </a:tblGrid>
              <a:tr h="512064">
                <a:tc>
                  <a:txBody>
                    <a:bodyPr/>
                    <a:lstStyle/>
                    <a:p>
                      <a:pPr indent="0" marL="0">
                        <a:buNone/>
                      </a:pPr>
                      <a:r>
                        <a:rPr lang="en-US" sz="1050" b="1" dirty="0">
                          <a:solidFill>
                            <a:srgbClr val="0D3143"/>
                          </a:solidFill>
                          <a:latin typeface="Calibri" pitchFamily="34" charset="0"/>
                          <a:ea typeface="Calibri" pitchFamily="34" charset="-122"/>
                          <a:cs typeface="Calibri" pitchFamily="34" charset="-120"/>
                        </a:rPr>
                        <a:t>Centro</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b="1" dirty="0">
                          <a:solidFill>
                            <a:srgbClr val="0D3143"/>
                          </a:solidFill>
                          <a:latin typeface="Calibri" pitchFamily="34" charset="0"/>
                          <a:ea typeface="Calibri" pitchFamily="34" charset="-122"/>
                          <a:cs typeface="Calibri" pitchFamily="34" charset="-120"/>
                        </a:rPr>
                        <a:t>Dirección</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Secretaría de Salud del Meta</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Calle 37 # 41-80, Barzal</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Hospital Departamental E.S.E.</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Calle 37A # 28-53, Barzal Alto</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512064">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Centro de Salud El Recreo</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050" dirty="0">
                          <a:solidFill>
                            <a:srgbClr val="0D3143"/>
                          </a:solidFill>
                          <a:latin typeface="Calibri" pitchFamily="34" charset="0"/>
                          <a:ea typeface="Calibri" pitchFamily="34" charset="-122"/>
                          <a:cs typeface="Calibri" pitchFamily="34" charset="-120"/>
                        </a:rPr>
                        <a:t>Calle 31 con Carrera 11</a:t>
                      </a:r>
                      <a:endParaRPr lang="en-US" sz="1050" dirty="0">
                        <a:latin typeface="Calibri" charset="0"/>
                        <a:ea typeface="Calibri" charset="0"/>
                        <a:cs typeface="Calibri" charset="0"/>
                      </a:endParaRPr>
                    </a:p>
                  </a:txBody>
                  <a:tcPr marL="54864" marR="54864" marT="54864" marB="54864">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bl>
          </a:graphicData>
        </a:graphic>
      </p:graphicFrame>
      <p:sp>
        <p:nvSpPr>
          <p:cNvPr id="8" name="Shape 4"/>
          <p:cNvSpPr/>
          <p:nvPr/>
        </p:nvSpPr>
        <p:spPr>
          <a:xfrm>
            <a:off x="868680" y="4709160"/>
            <a:ext cx="10515600" cy="868680"/>
          </a:xfrm>
          <a:prstGeom prst="roundRect">
            <a:avLst>
              <a:gd name="adj" fmla="val 6316"/>
            </a:avLst>
          </a:prstGeom>
          <a:solidFill>
            <a:srgbClr val="FDECE9"/>
          </a:solidFill>
          <a:ln/>
        </p:spPr>
      </p:sp>
      <p:sp>
        <p:nvSpPr>
          <p:cNvPr id="9" name="Text 5"/>
          <p:cNvSpPr/>
          <p:nvPr/>
        </p:nvSpPr>
        <p:spPr>
          <a:xfrm>
            <a:off x="1143000" y="4937760"/>
            <a:ext cx="9966960" cy="457200"/>
          </a:xfrm>
          <a:prstGeom prst="rect">
            <a:avLst/>
          </a:prstGeom>
          <a:noFill/>
          <a:ln/>
        </p:spPr>
        <p:txBody>
          <a:bodyPr wrap="square" lIns="0" tIns="0" rIns="0" bIns="0" rtlCol="0" anchor="ctr"/>
          <a:lstStyle/>
          <a:p>
            <a:pPr indent="0" marL="0">
              <a:buNone/>
            </a:pPr>
            <a:r>
              <a:rPr lang="en-US" sz="1500" b="1" dirty="0">
                <a:solidFill>
                  <a:srgbClr val="E2574C"/>
                </a:solidFill>
                <a:latin typeface="Calibri" pitchFamily="34" charset="0"/>
                <a:ea typeface="Calibri" pitchFamily="34" charset="-122"/>
                <a:cs typeface="Calibri" pitchFamily="34" charset="-120"/>
              </a:rPr>
              <a:t>Sin coordenadas verificadas, el mapa no inventa un punto: </a:t>
            </a:r>
            <a:pPr indent="0" marL="0">
              <a:buNone/>
            </a:pPr>
            <a:r>
              <a:rPr lang="en-US" sz="1500" dirty="0">
                <a:solidFill>
                  <a:srgbClr val="0D3143"/>
                </a:solidFill>
                <a:latin typeface="Calibri" pitchFamily="34" charset="0"/>
                <a:ea typeface="Calibri" pitchFamily="34" charset="-122"/>
                <a:cs typeface="Calibri" pitchFamily="34" charset="-120"/>
              </a:rPr>
              <a:t>muestra la vista general de Villavicencio y lo dice en el pie de la ficha.</a:t>
            </a:r>
            <a:endParaRPr lang="en-US" sz="1500" dirty="0"/>
          </a:p>
        </p:txBody>
      </p:sp>
      <p:sp>
        <p:nvSpPr>
          <p:cNvPr id="10" name="Shape 6"/>
          <p:cNvSpPr/>
          <p:nvPr/>
        </p:nvSpPr>
        <p:spPr>
          <a:xfrm>
            <a:off x="0" y="6729984"/>
            <a:ext cx="12191695" cy="128016"/>
          </a:xfrm>
          <a:prstGeom prst="rect">
            <a:avLst/>
          </a:prstGeom>
          <a:solidFill>
            <a:srgbClr val="3F7FB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822960" y="475488"/>
            <a:ext cx="10515600" cy="310896"/>
          </a:xfrm>
          <a:prstGeom prst="rect">
            <a:avLst/>
          </a:prstGeom>
          <a:noFill/>
          <a:ln/>
        </p:spPr>
        <p:txBody>
          <a:bodyPr wrap="square" lIns="0" tIns="0" rIns="0" bIns="0" rtlCol="0" anchor="ctr"/>
          <a:lstStyle/>
          <a:p>
            <a:pPr indent="0" marL="0">
              <a:buNone/>
            </a:pPr>
            <a:r>
              <a:rPr lang="en-US" sz="1200" b="1" spc="200" kern="0" dirty="0">
                <a:solidFill>
                  <a:srgbClr val="3FA89B"/>
                </a:solidFill>
                <a:latin typeface="Calibri" pitchFamily="34" charset="0"/>
                <a:ea typeface="Calibri" pitchFamily="34" charset="-122"/>
                <a:cs typeface="Calibri" pitchFamily="34" charset="-120"/>
              </a:rPr>
              <a:t>ESTADO DEL PROTOTIPO</a:t>
            </a:r>
            <a:endParaRPr lang="en-US" sz="1200" dirty="0"/>
          </a:p>
        </p:txBody>
      </p:sp>
      <p:sp>
        <p:nvSpPr>
          <p:cNvPr id="3" name="Text 1"/>
          <p:cNvSpPr/>
          <p:nvPr/>
        </p:nvSpPr>
        <p:spPr>
          <a:xfrm>
            <a:off x="822960" y="822960"/>
            <a:ext cx="10515600" cy="914400"/>
          </a:xfrm>
          <a:prstGeom prst="rect">
            <a:avLst/>
          </a:prstGeom>
          <a:noFill/>
          <a:ln/>
        </p:spPr>
        <p:txBody>
          <a:bodyPr wrap="square" lIns="0" tIns="0" rIns="0" bIns="0" rtlCol="0" anchor="t"/>
          <a:lstStyle/>
          <a:p>
            <a:pPr indent="0" marL="0">
              <a:buNone/>
            </a:pPr>
            <a:r>
              <a:rPr lang="en-US" sz="3400" b="1" dirty="0">
                <a:solidFill>
                  <a:srgbClr val="0D3143"/>
                </a:solidFill>
                <a:latin typeface="Calibri" pitchFamily="34" charset="0"/>
                <a:ea typeface="Calibri" pitchFamily="34" charset="-122"/>
                <a:cs typeface="Calibri" pitchFamily="34" charset="-120"/>
              </a:rPr>
              <a:t>No prometido. Medido.</a:t>
            </a:r>
            <a:endParaRPr lang="en-US" sz="3400" dirty="0"/>
          </a:p>
        </p:txBody>
      </p:sp>
      <p:sp>
        <p:nvSpPr>
          <p:cNvPr id="4" name="Shape 2"/>
          <p:cNvSpPr/>
          <p:nvPr/>
        </p:nvSpPr>
        <p:spPr>
          <a:xfrm>
            <a:off x="868680" y="2103120"/>
            <a:ext cx="2514600" cy="1965960"/>
          </a:xfrm>
          <a:prstGeom prst="roundRect">
            <a:avLst>
              <a:gd name="adj" fmla="val 3721"/>
            </a:avLst>
          </a:prstGeom>
          <a:solidFill>
            <a:srgbClr val="FFFFFF"/>
          </a:solidFill>
          <a:ln w="12700">
            <a:solidFill>
              <a:srgbClr val="DCE5E7"/>
            </a:solidFill>
            <a:prstDash val="solid"/>
          </a:ln>
        </p:spPr>
      </p:sp>
      <p:sp>
        <p:nvSpPr>
          <p:cNvPr id="5" name="Shape 3"/>
          <p:cNvSpPr/>
          <p:nvPr/>
        </p:nvSpPr>
        <p:spPr>
          <a:xfrm>
            <a:off x="868680" y="2103120"/>
            <a:ext cx="2514600" cy="82296"/>
          </a:xfrm>
          <a:prstGeom prst="rect">
            <a:avLst/>
          </a:prstGeom>
          <a:solidFill>
            <a:srgbClr val="3FA89B"/>
          </a:solidFill>
          <a:ln/>
        </p:spPr>
      </p:sp>
      <p:sp>
        <p:nvSpPr>
          <p:cNvPr id="6" name="Text 4"/>
          <p:cNvSpPr/>
          <p:nvPr/>
        </p:nvSpPr>
        <p:spPr>
          <a:xfrm>
            <a:off x="868680" y="2395728"/>
            <a:ext cx="2514600" cy="777240"/>
          </a:xfrm>
          <a:prstGeom prst="rect">
            <a:avLst/>
          </a:prstGeom>
          <a:noFill/>
          <a:ln/>
        </p:spPr>
        <p:txBody>
          <a:bodyPr wrap="square" lIns="0" tIns="0" rIns="0" bIns="0" rtlCol="0" anchor="ctr"/>
          <a:lstStyle/>
          <a:p>
            <a:pPr algn="ctr" indent="0" marL="0">
              <a:buNone/>
            </a:pPr>
            <a:r>
              <a:rPr lang="en-US" sz="4600" b="1" dirty="0">
                <a:solidFill>
                  <a:srgbClr val="3FA89B"/>
                </a:solidFill>
                <a:latin typeface="Calibri" pitchFamily="34" charset="0"/>
                <a:ea typeface="Calibri" pitchFamily="34" charset="-122"/>
                <a:cs typeface="Calibri" pitchFamily="34" charset="-120"/>
              </a:rPr>
              <a:t>72</a:t>
            </a:r>
            <a:endParaRPr lang="en-US" sz="4600" dirty="0"/>
          </a:p>
        </p:txBody>
      </p:sp>
      <p:sp>
        <p:nvSpPr>
          <p:cNvPr id="7" name="Text 5"/>
          <p:cNvSpPr/>
          <p:nvPr/>
        </p:nvSpPr>
        <p:spPr>
          <a:xfrm>
            <a:off x="1051560" y="3246120"/>
            <a:ext cx="2148840" cy="685800"/>
          </a:xfrm>
          <a:prstGeom prst="rect">
            <a:avLst/>
          </a:prstGeom>
          <a:noFill/>
          <a:ln/>
        </p:spPr>
        <p:txBody>
          <a:bodyPr wrap="square" lIns="0" tIns="0" rIns="0" bIns="0" rtlCol="0" anchor="ctr"/>
          <a:lstStyle/>
          <a:p>
            <a:pPr algn="ctr" indent="0" marL="0">
              <a:lnSpc>
                <a:spcPts val="1700"/>
              </a:lnSpc>
              <a:buNone/>
            </a:pPr>
            <a:r>
              <a:rPr lang="en-US" sz="1250" dirty="0">
                <a:solidFill>
                  <a:srgbClr val="5B7080"/>
                </a:solidFill>
                <a:latin typeface="Calibri" pitchFamily="34" charset="0"/>
                <a:ea typeface="Calibri" pitchFamily="34" charset="-122"/>
                <a:cs typeface="Calibri" pitchFamily="34" charset="-120"/>
              </a:rPr>
              <a:t>pruebas automatizadas</a:t>
            </a:r>
            <a:endParaRPr lang="en-US" sz="1250" dirty="0"/>
          </a:p>
          <a:p>
            <a:pPr algn="ctr" indent="0" marL="0">
              <a:lnSpc>
                <a:spcPts val="1700"/>
              </a:lnSpc>
              <a:buNone/>
            </a:pPr>
            <a:r>
              <a:rPr lang="en-US" sz="1250" dirty="0">
                <a:solidFill>
                  <a:srgbClr val="5B7080"/>
                </a:solidFill>
                <a:latin typeface="Calibri" pitchFamily="34" charset="0"/>
                <a:ea typeface="Calibri" pitchFamily="34" charset="-122"/>
                <a:cs typeface="Calibri" pitchFamily="34" charset="-120"/>
              </a:rPr>
              <a:t>en verde</a:t>
            </a:r>
            <a:endParaRPr lang="en-US" sz="1250" dirty="0"/>
          </a:p>
        </p:txBody>
      </p:sp>
      <p:sp>
        <p:nvSpPr>
          <p:cNvPr id="8" name="Shape 6"/>
          <p:cNvSpPr/>
          <p:nvPr/>
        </p:nvSpPr>
        <p:spPr>
          <a:xfrm>
            <a:off x="3611880" y="2103120"/>
            <a:ext cx="2514600" cy="1965960"/>
          </a:xfrm>
          <a:prstGeom prst="roundRect">
            <a:avLst>
              <a:gd name="adj" fmla="val 3721"/>
            </a:avLst>
          </a:prstGeom>
          <a:solidFill>
            <a:srgbClr val="FFFFFF"/>
          </a:solidFill>
          <a:ln w="12700">
            <a:solidFill>
              <a:srgbClr val="DCE5E7"/>
            </a:solidFill>
            <a:prstDash val="solid"/>
          </a:ln>
        </p:spPr>
      </p:sp>
      <p:sp>
        <p:nvSpPr>
          <p:cNvPr id="9" name="Shape 7"/>
          <p:cNvSpPr/>
          <p:nvPr/>
        </p:nvSpPr>
        <p:spPr>
          <a:xfrm>
            <a:off x="3611880" y="2103120"/>
            <a:ext cx="2514600" cy="82296"/>
          </a:xfrm>
          <a:prstGeom prst="rect">
            <a:avLst/>
          </a:prstGeom>
          <a:solidFill>
            <a:srgbClr val="3F7FBF"/>
          </a:solidFill>
          <a:ln/>
        </p:spPr>
      </p:sp>
      <p:sp>
        <p:nvSpPr>
          <p:cNvPr id="10" name="Text 8"/>
          <p:cNvSpPr/>
          <p:nvPr/>
        </p:nvSpPr>
        <p:spPr>
          <a:xfrm>
            <a:off x="3611880" y="2395728"/>
            <a:ext cx="2514600" cy="777240"/>
          </a:xfrm>
          <a:prstGeom prst="rect">
            <a:avLst/>
          </a:prstGeom>
          <a:noFill/>
          <a:ln/>
        </p:spPr>
        <p:txBody>
          <a:bodyPr wrap="square" lIns="0" tIns="0" rIns="0" bIns="0" rtlCol="0" anchor="ctr"/>
          <a:lstStyle/>
          <a:p>
            <a:pPr algn="ctr" indent="0" marL="0">
              <a:buNone/>
            </a:pPr>
            <a:r>
              <a:rPr lang="en-US" sz="4600" b="1" dirty="0">
                <a:solidFill>
                  <a:srgbClr val="3F7FBF"/>
                </a:solidFill>
                <a:latin typeface="Calibri" pitchFamily="34" charset="0"/>
                <a:ea typeface="Calibri" pitchFamily="34" charset="-122"/>
                <a:cs typeface="Calibri" pitchFamily="34" charset="-120"/>
              </a:rPr>
              <a:t>0</a:t>
            </a:r>
            <a:endParaRPr lang="en-US" sz="4600" dirty="0"/>
          </a:p>
        </p:txBody>
      </p:sp>
      <p:sp>
        <p:nvSpPr>
          <p:cNvPr id="11" name="Text 9"/>
          <p:cNvSpPr/>
          <p:nvPr/>
        </p:nvSpPr>
        <p:spPr>
          <a:xfrm>
            <a:off x="3794760" y="3246120"/>
            <a:ext cx="2148840" cy="685800"/>
          </a:xfrm>
          <a:prstGeom prst="rect">
            <a:avLst/>
          </a:prstGeom>
          <a:noFill/>
          <a:ln/>
        </p:spPr>
        <p:txBody>
          <a:bodyPr wrap="square" lIns="0" tIns="0" rIns="0" bIns="0" rtlCol="0" anchor="ctr"/>
          <a:lstStyle/>
          <a:p>
            <a:pPr algn="ctr" indent="0" marL="0">
              <a:lnSpc>
                <a:spcPts val="1700"/>
              </a:lnSpc>
              <a:buNone/>
            </a:pPr>
            <a:r>
              <a:rPr lang="en-US" sz="1250" dirty="0">
                <a:solidFill>
                  <a:srgbClr val="5B7080"/>
                </a:solidFill>
                <a:latin typeface="Calibri" pitchFamily="34" charset="0"/>
                <a:ea typeface="Calibri" pitchFamily="34" charset="-122"/>
                <a:cs typeface="Calibri" pitchFamily="34" charset="-120"/>
              </a:rPr>
              <a:t>vulnerabilidades</a:t>
            </a:r>
            <a:endParaRPr lang="en-US" sz="1250" dirty="0"/>
          </a:p>
          <a:p>
            <a:pPr algn="ctr" indent="0" marL="0">
              <a:lnSpc>
                <a:spcPts val="1700"/>
              </a:lnSpc>
              <a:buNone/>
            </a:pPr>
            <a:r>
              <a:rPr lang="en-US" sz="1250" dirty="0">
                <a:solidFill>
                  <a:srgbClr val="5B7080"/>
                </a:solidFill>
                <a:latin typeface="Calibri" pitchFamily="34" charset="0"/>
                <a:ea typeface="Calibri" pitchFamily="34" charset="-122"/>
                <a:cs typeface="Calibri" pitchFamily="34" charset="-120"/>
              </a:rPr>
              <a:t>de seguridad</a:t>
            </a:r>
            <a:endParaRPr lang="en-US" sz="1250" dirty="0"/>
          </a:p>
        </p:txBody>
      </p:sp>
      <p:sp>
        <p:nvSpPr>
          <p:cNvPr id="12" name="Shape 10"/>
          <p:cNvSpPr/>
          <p:nvPr/>
        </p:nvSpPr>
        <p:spPr>
          <a:xfrm>
            <a:off x="6355080" y="2103120"/>
            <a:ext cx="2514600" cy="1965960"/>
          </a:xfrm>
          <a:prstGeom prst="roundRect">
            <a:avLst>
              <a:gd name="adj" fmla="val 3721"/>
            </a:avLst>
          </a:prstGeom>
          <a:solidFill>
            <a:srgbClr val="FFFFFF"/>
          </a:solidFill>
          <a:ln w="12700">
            <a:solidFill>
              <a:srgbClr val="DCE5E7"/>
            </a:solidFill>
            <a:prstDash val="solid"/>
          </a:ln>
        </p:spPr>
      </p:sp>
      <p:sp>
        <p:nvSpPr>
          <p:cNvPr id="13" name="Shape 11"/>
          <p:cNvSpPr/>
          <p:nvPr/>
        </p:nvSpPr>
        <p:spPr>
          <a:xfrm>
            <a:off x="6355080" y="2103120"/>
            <a:ext cx="2514600" cy="82296"/>
          </a:xfrm>
          <a:prstGeom prst="rect">
            <a:avLst/>
          </a:prstGeom>
          <a:solidFill>
            <a:srgbClr val="E8B53F"/>
          </a:solidFill>
          <a:ln/>
        </p:spPr>
      </p:sp>
      <p:sp>
        <p:nvSpPr>
          <p:cNvPr id="14" name="Text 12"/>
          <p:cNvSpPr/>
          <p:nvPr/>
        </p:nvSpPr>
        <p:spPr>
          <a:xfrm>
            <a:off x="6355080" y="2395728"/>
            <a:ext cx="2514600" cy="777240"/>
          </a:xfrm>
          <a:prstGeom prst="rect">
            <a:avLst/>
          </a:prstGeom>
          <a:noFill/>
          <a:ln/>
        </p:spPr>
        <p:txBody>
          <a:bodyPr wrap="square" lIns="0" tIns="0" rIns="0" bIns="0" rtlCol="0" anchor="ctr"/>
          <a:lstStyle/>
          <a:p>
            <a:pPr algn="ctr" indent="0" marL="0">
              <a:buNone/>
            </a:pPr>
            <a:r>
              <a:rPr lang="en-US" sz="4600" b="1" dirty="0">
                <a:solidFill>
                  <a:srgbClr val="E8B53F"/>
                </a:solidFill>
                <a:latin typeface="Calibri" pitchFamily="34" charset="0"/>
                <a:ea typeface="Calibri" pitchFamily="34" charset="-122"/>
                <a:cs typeface="Calibri" pitchFamily="34" charset="-120"/>
              </a:rPr>
              <a:t>207</a:t>
            </a:r>
            <a:endParaRPr lang="en-US" sz="4600" dirty="0"/>
          </a:p>
        </p:txBody>
      </p:sp>
      <p:sp>
        <p:nvSpPr>
          <p:cNvPr id="15" name="Text 13"/>
          <p:cNvSpPr/>
          <p:nvPr/>
        </p:nvSpPr>
        <p:spPr>
          <a:xfrm>
            <a:off x="6537960" y="3246120"/>
            <a:ext cx="2148840" cy="685800"/>
          </a:xfrm>
          <a:prstGeom prst="rect">
            <a:avLst/>
          </a:prstGeom>
          <a:noFill/>
          <a:ln/>
        </p:spPr>
        <p:txBody>
          <a:bodyPr wrap="square" lIns="0" tIns="0" rIns="0" bIns="0" rtlCol="0" anchor="ctr"/>
          <a:lstStyle/>
          <a:p>
            <a:pPr algn="ctr" indent="0" marL="0">
              <a:lnSpc>
                <a:spcPts val="1700"/>
              </a:lnSpc>
              <a:buNone/>
            </a:pPr>
            <a:r>
              <a:rPr lang="en-US" sz="1250" dirty="0">
                <a:solidFill>
                  <a:srgbClr val="5B7080"/>
                </a:solidFill>
                <a:latin typeface="Calibri" pitchFamily="34" charset="0"/>
                <a:ea typeface="Calibri" pitchFamily="34" charset="-122"/>
                <a:cs typeface="Calibri" pitchFamily="34" charset="-120"/>
              </a:rPr>
              <a:t>dependencias con</a:t>
            </a:r>
            <a:endParaRPr lang="en-US" sz="1250" dirty="0"/>
          </a:p>
          <a:p>
            <a:pPr algn="ctr" indent="0" marL="0">
              <a:lnSpc>
                <a:spcPts val="1700"/>
              </a:lnSpc>
              <a:buNone/>
            </a:pPr>
            <a:r>
              <a:rPr lang="en-US" sz="1250" dirty="0">
                <a:solidFill>
                  <a:srgbClr val="5B7080"/>
                </a:solidFill>
                <a:latin typeface="Calibri" pitchFamily="34" charset="0"/>
                <a:ea typeface="Calibri" pitchFamily="34" charset="-122"/>
                <a:cs typeface="Calibri" pitchFamily="34" charset="-120"/>
              </a:rPr>
              <a:t>licencia declarada</a:t>
            </a:r>
            <a:endParaRPr lang="en-US" sz="1250" dirty="0"/>
          </a:p>
        </p:txBody>
      </p:sp>
      <p:sp>
        <p:nvSpPr>
          <p:cNvPr id="16" name="Shape 14"/>
          <p:cNvSpPr/>
          <p:nvPr/>
        </p:nvSpPr>
        <p:spPr>
          <a:xfrm>
            <a:off x="9098280" y="2103120"/>
            <a:ext cx="2514600" cy="1965960"/>
          </a:xfrm>
          <a:prstGeom prst="roundRect">
            <a:avLst>
              <a:gd name="adj" fmla="val 3721"/>
            </a:avLst>
          </a:prstGeom>
          <a:solidFill>
            <a:srgbClr val="FFFFFF"/>
          </a:solidFill>
          <a:ln w="12700">
            <a:solidFill>
              <a:srgbClr val="DCE5E7"/>
            </a:solidFill>
            <a:prstDash val="solid"/>
          </a:ln>
        </p:spPr>
      </p:sp>
      <p:sp>
        <p:nvSpPr>
          <p:cNvPr id="17" name="Shape 15"/>
          <p:cNvSpPr/>
          <p:nvPr/>
        </p:nvSpPr>
        <p:spPr>
          <a:xfrm>
            <a:off x="9098280" y="2103120"/>
            <a:ext cx="2514600" cy="82296"/>
          </a:xfrm>
          <a:prstGeom prst="rect">
            <a:avLst/>
          </a:prstGeom>
          <a:solidFill>
            <a:srgbClr val="D97BA8"/>
          </a:solidFill>
          <a:ln/>
        </p:spPr>
      </p:sp>
      <p:sp>
        <p:nvSpPr>
          <p:cNvPr id="18" name="Text 16"/>
          <p:cNvSpPr/>
          <p:nvPr/>
        </p:nvSpPr>
        <p:spPr>
          <a:xfrm>
            <a:off x="9098280" y="2395728"/>
            <a:ext cx="2514600" cy="777240"/>
          </a:xfrm>
          <a:prstGeom prst="rect">
            <a:avLst/>
          </a:prstGeom>
          <a:noFill/>
          <a:ln/>
        </p:spPr>
        <p:txBody>
          <a:bodyPr wrap="square" lIns="0" tIns="0" rIns="0" bIns="0" rtlCol="0" anchor="ctr"/>
          <a:lstStyle/>
          <a:p>
            <a:pPr algn="ctr" indent="0" marL="0">
              <a:buNone/>
            </a:pPr>
            <a:r>
              <a:rPr lang="en-US" sz="4600" b="1" dirty="0">
                <a:solidFill>
                  <a:srgbClr val="D97BA8"/>
                </a:solidFill>
                <a:latin typeface="Calibri" pitchFamily="34" charset="0"/>
                <a:ea typeface="Calibri" pitchFamily="34" charset="-122"/>
                <a:cs typeface="Calibri" pitchFamily="34" charset="-120"/>
              </a:rPr>
              <a:t>0</a:t>
            </a:r>
            <a:endParaRPr lang="en-US" sz="4600" dirty="0"/>
          </a:p>
        </p:txBody>
      </p:sp>
      <p:sp>
        <p:nvSpPr>
          <p:cNvPr id="19" name="Text 17"/>
          <p:cNvSpPr/>
          <p:nvPr/>
        </p:nvSpPr>
        <p:spPr>
          <a:xfrm>
            <a:off x="9281160" y="3246120"/>
            <a:ext cx="2148840" cy="685800"/>
          </a:xfrm>
          <a:prstGeom prst="rect">
            <a:avLst/>
          </a:prstGeom>
          <a:noFill/>
          <a:ln/>
        </p:spPr>
        <p:txBody>
          <a:bodyPr wrap="square" lIns="0" tIns="0" rIns="0" bIns="0" rtlCol="0" anchor="ctr"/>
          <a:lstStyle/>
          <a:p>
            <a:pPr algn="ctr" indent="0" marL="0">
              <a:lnSpc>
                <a:spcPts val="1700"/>
              </a:lnSpc>
              <a:buNone/>
            </a:pPr>
            <a:r>
              <a:rPr lang="en-US" sz="1250" dirty="0">
                <a:solidFill>
                  <a:srgbClr val="5B7080"/>
                </a:solidFill>
                <a:latin typeface="Calibri" pitchFamily="34" charset="0"/>
                <a:ea typeface="Calibri" pitchFamily="34" charset="-122"/>
                <a:cs typeface="Calibri" pitchFamily="34" charset="-120"/>
              </a:rPr>
              <a:t>archivos binarios</a:t>
            </a:r>
            <a:endParaRPr lang="en-US" sz="1250" dirty="0"/>
          </a:p>
          <a:p>
            <a:pPr algn="ctr" indent="0" marL="0">
              <a:lnSpc>
                <a:spcPts val="1700"/>
              </a:lnSpc>
              <a:buNone/>
            </a:pPr>
            <a:r>
              <a:rPr lang="en-US" sz="1250" dirty="0">
                <a:solidFill>
                  <a:srgbClr val="5B7080"/>
                </a:solidFill>
                <a:latin typeface="Calibri" pitchFamily="34" charset="0"/>
                <a:ea typeface="Calibri" pitchFamily="34" charset="-122"/>
                <a:cs typeface="Calibri" pitchFamily="34" charset="-120"/>
              </a:rPr>
              <a:t>de terceros</a:t>
            </a:r>
            <a:endParaRPr lang="en-US" sz="1250" dirty="0"/>
          </a:p>
        </p:txBody>
      </p:sp>
      <p:sp>
        <p:nvSpPr>
          <p:cNvPr id="20" name="Text 18"/>
          <p:cNvSpPr/>
          <p:nvPr/>
        </p:nvSpPr>
        <p:spPr>
          <a:xfrm>
            <a:off x="868680" y="4526280"/>
            <a:ext cx="10515600" cy="1371600"/>
          </a:xfrm>
          <a:prstGeom prst="rect">
            <a:avLst/>
          </a:prstGeom>
          <a:noFill/>
          <a:ln/>
        </p:spPr>
        <p:txBody>
          <a:bodyPr wrap="square" lIns="0" tIns="0" rIns="0" bIns="0" rtlCol="0" anchor="ctr"/>
          <a:lstStyle/>
          <a:p>
            <a:pPr marL="203200" indent="-203200">
              <a:lnSpc>
                <a:spcPts val="2400"/>
              </a:lnSpc>
              <a:spcAft>
                <a:spcPts val="800"/>
              </a:spcAft>
              <a:buSzPct val="100000"/>
              <a:buChar char="•"/>
            </a:pPr>
            <a:r>
              <a:rPr lang="en-US" sz="1450" dirty="0">
                <a:solidFill>
                  <a:srgbClr val="0D3143"/>
                </a:solidFill>
                <a:latin typeface="Calibri" pitchFamily="34" charset="0"/>
                <a:ea typeface="Calibri" pitchFamily="34" charset="-122"/>
                <a:cs typeface="Calibri" pitchFamily="34" charset="-120"/>
              </a:rPr>
              <a:t>44 pruebas de datos y API (Node)  ·  28 de interfaz (Vitest + Testing Library)</a:t>
            </a:r>
            <a:endParaRPr lang="en-US" sz="1450" dirty="0"/>
          </a:p>
          <a:p>
            <a:pPr marL="203200" indent="-203200">
              <a:lnSpc>
                <a:spcPts val="2400"/>
              </a:lnSpc>
              <a:spcAft>
                <a:spcPts val="800"/>
              </a:spcAft>
              <a:buSzPct val="100000"/>
              <a:buChar char="•"/>
            </a:pPr>
            <a:r>
              <a:rPr lang="en-US" sz="1450" dirty="0">
                <a:solidFill>
                  <a:srgbClr val="0D3143"/>
                </a:solidFill>
                <a:latin typeface="Calibri" pitchFamily="34" charset="0"/>
                <a:ea typeface="Calibri" pitchFamily="34" charset="-122"/>
                <a:cs typeface="Calibri" pitchFamily="34" charset="-120"/>
              </a:rPr>
              <a:t>El contenido de salud se prueba con datos sintéticos: números inventados que nunca se sirven</a:t>
            </a:r>
            <a:endParaRPr lang="en-US" sz="1450" dirty="0"/>
          </a:p>
          <a:p>
            <a:pPr marL="203200" indent="-203200">
              <a:lnSpc>
                <a:spcPts val="2400"/>
              </a:lnSpc>
              <a:spcAft>
                <a:spcPts val="800"/>
              </a:spcAft>
              <a:buSzPct val="100000"/>
              <a:buChar char="•"/>
            </a:pPr>
            <a:r>
              <a:rPr lang="en-US" sz="1450" dirty="0">
                <a:solidFill>
                  <a:srgbClr val="0D3143"/>
                </a:solidFill>
                <a:latin typeface="Calibri" pitchFamily="34" charset="0"/>
                <a:ea typeface="Calibri" pitchFamily="34" charset="-122"/>
                <a:cs typeface="Calibri" pitchFamily="34" charset="-120"/>
              </a:rPr>
              <a:t>Iconos e ilustraciones dibujados por nosotros en SVG. Ni una sola imagen descargada</a:t>
            </a:r>
            <a:endParaRPr lang="en-US" sz="1450" dirty="0"/>
          </a:p>
        </p:txBody>
      </p:sp>
      <p:sp>
        <p:nvSpPr>
          <p:cNvPr id="21" name="Shape 19"/>
          <p:cNvSpPr/>
          <p:nvPr/>
        </p:nvSpPr>
        <p:spPr>
          <a:xfrm>
            <a:off x="0" y="6729984"/>
            <a:ext cx="12191695" cy="128016"/>
          </a:xfrm>
          <a:prstGeom prst="rect">
            <a:avLst/>
          </a:prstGeom>
          <a:solidFill>
            <a:srgbClr val="3FA89B"/>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822960" y="475488"/>
            <a:ext cx="10515600" cy="310896"/>
          </a:xfrm>
          <a:prstGeom prst="rect">
            <a:avLst/>
          </a:prstGeom>
          <a:noFill/>
          <a:ln/>
        </p:spPr>
        <p:txBody>
          <a:bodyPr wrap="square" lIns="0" tIns="0" rIns="0" bIns="0" rtlCol="0" anchor="ctr"/>
          <a:lstStyle/>
          <a:p>
            <a:pPr indent="0" marL="0">
              <a:buNone/>
            </a:pPr>
            <a:r>
              <a:rPr lang="en-US" sz="1200" b="1" spc="200" kern="0" dirty="0">
                <a:solidFill>
                  <a:srgbClr val="3F7FBF"/>
                </a:solidFill>
                <a:latin typeface="Calibri" pitchFamily="34" charset="0"/>
                <a:ea typeface="Calibri" pitchFamily="34" charset="-122"/>
                <a:cs typeface="Calibri" pitchFamily="34" charset="-120"/>
              </a:rPr>
              <a:t>SOSTENERLO MÁS ALLÁ DEL HACKATHON</a:t>
            </a:r>
            <a:endParaRPr lang="en-US" sz="1200" dirty="0"/>
          </a:p>
        </p:txBody>
      </p:sp>
      <p:sp>
        <p:nvSpPr>
          <p:cNvPr id="3" name="Text 1"/>
          <p:cNvSpPr/>
          <p:nvPr/>
        </p:nvSpPr>
        <p:spPr>
          <a:xfrm>
            <a:off x="822960" y="822960"/>
            <a:ext cx="10515600" cy="914400"/>
          </a:xfrm>
          <a:prstGeom prst="rect">
            <a:avLst/>
          </a:prstGeom>
          <a:noFill/>
          <a:ln/>
        </p:spPr>
        <p:txBody>
          <a:bodyPr wrap="square" lIns="0" tIns="0" rIns="0" bIns="0" rtlCol="0" anchor="t"/>
          <a:lstStyle/>
          <a:p>
            <a:pPr indent="0" marL="0">
              <a:buNone/>
            </a:pPr>
            <a:r>
              <a:rPr lang="en-US" sz="3000" b="1" dirty="0">
                <a:solidFill>
                  <a:srgbClr val="0D3143"/>
                </a:solidFill>
                <a:latin typeface="Calibri" pitchFamily="34" charset="0"/>
                <a:ea typeface="Calibri" pitchFamily="34" charset="-122"/>
                <a:cs typeface="Calibri" pitchFamily="34" charset="-120"/>
              </a:rPr>
              <a:t>Quién verifica, cada cuándo y cómo se reporta</a:t>
            </a:r>
            <a:endParaRPr lang="en-US" sz="3000" dirty="0"/>
          </a:p>
        </p:txBody>
      </p:sp>
      <p:sp>
        <p:nvSpPr>
          <p:cNvPr id="4" name="Shape 2"/>
          <p:cNvSpPr/>
          <p:nvPr/>
        </p:nvSpPr>
        <p:spPr>
          <a:xfrm>
            <a:off x="868680" y="2011680"/>
            <a:ext cx="5074920" cy="1645920"/>
          </a:xfrm>
          <a:prstGeom prst="roundRect">
            <a:avLst>
              <a:gd name="adj" fmla="val 4444"/>
            </a:avLst>
          </a:prstGeom>
          <a:solidFill>
            <a:srgbClr val="FFFFFF"/>
          </a:solidFill>
          <a:ln w="12700">
            <a:solidFill>
              <a:srgbClr val="DCE5E7"/>
            </a:solidFill>
            <a:prstDash val="solid"/>
          </a:ln>
        </p:spPr>
      </p:sp>
      <p:sp>
        <p:nvSpPr>
          <p:cNvPr id="5" name="Shape 3"/>
          <p:cNvSpPr/>
          <p:nvPr/>
        </p:nvSpPr>
        <p:spPr>
          <a:xfrm>
            <a:off x="868680" y="2011680"/>
            <a:ext cx="73152" cy="1645920"/>
          </a:xfrm>
          <a:prstGeom prst="rect">
            <a:avLst/>
          </a:prstGeom>
          <a:solidFill>
            <a:srgbClr val="3FA89B"/>
          </a:solidFill>
          <a:ln/>
        </p:spPr>
      </p:sp>
      <p:sp>
        <p:nvSpPr>
          <p:cNvPr id="6" name="Text 4"/>
          <p:cNvSpPr/>
          <p:nvPr/>
        </p:nvSpPr>
        <p:spPr>
          <a:xfrm>
            <a:off x="1143000" y="2194560"/>
            <a:ext cx="4572000" cy="292608"/>
          </a:xfrm>
          <a:prstGeom prst="rect">
            <a:avLst/>
          </a:prstGeom>
          <a:noFill/>
          <a:ln/>
        </p:spPr>
        <p:txBody>
          <a:bodyPr wrap="square" lIns="0" tIns="0" rIns="0" bIns="0" rtlCol="0" anchor="ctr"/>
          <a:lstStyle/>
          <a:p>
            <a:pPr indent="0" marL="0">
              <a:buNone/>
            </a:pPr>
            <a:r>
              <a:rPr lang="en-US" sz="1200" b="1" spc="180" kern="0" dirty="0">
                <a:solidFill>
                  <a:srgbClr val="3FA89B"/>
                </a:solidFill>
                <a:latin typeface="Calibri" pitchFamily="34" charset="0"/>
                <a:ea typeface="Calibri" pitchFamily="34" charset="-122"/>
                <a:cs typeface="Calibri" pitchFamily="34" charset="-120"/>
              </a:rPr>
              <a:t>QUIÉN</a:t>
            </a:r>
            <a:endParaRPr lang="en-US" sz="1200" dirty="0"/>
          </a:p>
        </p:txBody>
      </p:sp>
      <p:sp>
        <p:nvSpPr>
          <p:cNvPr id="7" name="Text 5"/>
          <p:cNvSpPr/>
          <p:nvPr/>
        </p:nvSpPr>
        <p:spPr>
          <a:xfrm>
            <a:off x="1143000" y="2560320"/>
            <a:ext cx="4572000" cy="960120"/>
          </a:xfrm>
          <a:prstGeom prst="rect">
            <a:avLst/>
          </a:prstGeom>
          <a:noFill/>
          <a:ln/>
        </p:spPr>
        <p:txBody>
          <a:bodyPr wrap="square" lIns="0" tIns="0" rIns="0" bIns="0" rtlCol="0" anchor="ctr"/>
          <a:lstStyle/>
          <a:p>
            <a:pPr indent="0" marL="0">
              <a:lnSpc>
                <a:spcPts val="1900"/>
              </a:lnSpc>
              <a:buNone/>
            </a:pPr>
            <a:r>
              <a:rPr lang="en-US" sz="1300" dirty="0">
                <a:solidFill>
                  <a:srgbClr val="0D3143"/>
                </a:solidFill>
                <a:latin typeface="Calibri" pitchFamily="34" charset="0"/>
                <a:ea typeface="Calibri" pitchFamily="34" charset="-122"/>
                <a:cs typeface="Calibri" pitchFamily="34" charset="-120"/>
              </a:rPr>
              <a:t>Responsable de contenido + responsable técnico. Regla de doble firma: quien cambia el dato no puede ser quien lo confirma.</a:t>
            </a:r>
            <a:endParaRPr lang="en-US" sz="1300" dirty="0"/>
          </a:p>
        </p:txBody>
      </p:sp>
      <p:sp>
        <p:nvSpPr>
          <p:cNvPr id="8" name="Shape 6"/>
          <p:cNvSpPr/>
          <p:nvPr/>
        </p:nvSpPr>
        <p:spPr>
          <a:xfrm>
            <a:off x="6217920" y="2011680"/>
            <a:ext cx="5074920" cy="1645920"/>
          </a:xfrm>
          <a:prstGeom prst="roundRect">
            <a:avLst>
              <a:gd name="adj" fmla="val 4444"/>
            </a:avLst>
          </a:prstGeom>
          <a:solidFill>
            <a:srgbClr val="FFFFFF"/>
          </a:solidFill>
          <a:ln w="12700">
            <a:solidFill>
              <a:srgbClr val="DCE5E7"/>
            </a:solidFill>
            <a:prstDash val="solid"/>
          </a:ln>
        </p:spPr>
      </p:sp>
      <p:sp>
        <p:nvSpPr>
          <p:cNvPr id="9" name="Shape 7"/>
          <p:cNvSpPr/>
          <p:nvPr/>
        </p:nvSpPr>
        <p:spPr>
          <a:xfrm>
            <a:off x="6217920" y="2011680"/>
            <a:ext cx="73152" cy="1645920"/>
          </a:xfrm>
          <a:prstGeom prst="rect">
            <a:avLst/>
          </a:prstGeom>
          <a:solidFill>
            <a:srgbClr val="3F7FBF"/>
          </a:solidFill>
          <a:ln/>
        </p:spPr>
      </p:sp>
      <p:sp>
        <p:nvSpPr>
          <p:cNvPr id="10" name="Text 8"/>
          <p:cNvSpPr/>
          <p:nvPr/>
        </p:nvSpPr>
        <p:spPr>
          <a:xfrm>
            <a:off x="6492240" y="2194560"/>
            <a:ext cx="4572000" cy="292608"/>
          </a:xfrm>
          <a:prstGeom prst="rect">
            <a:avLst/>
          </a:prstGeom>
          <a:noFill/>
          <a:ln/>
        </p:spPr>
        <p:txBody>
          <a:bodyPr wrap="square" lIns="0" tIns="0" rIns="0" bIns="0" rtlCol="0" anchor="ctr"/>
          <a:lstStyle/>
          <a:p>
            <a:pPr indent="0" marL="0">
              <a:buNone/>
            </a:pPr>
            <a:r>
              <a:rPr lang="en-US" sz="1200" b="1" spc="180" kern="0" dirty="0">
                <a:solidFill>
                  <a:srgbClr val="3F7FBF"/>
                </a:solidFill>
                <a:latin typeface="Calibri" pitchFamily="34" charset="0"/>
                <a:ea typeface="Calibri" pitchFamily="34" charset="-122"/>
                <a:cs typeface="Calibri" pitchFamily="34" charset="-120"/>
              </a:rPr>
              <a:t>CADA CUÁNDO</a:t>
            </a:r>
            <a:endParaRPr lang="en-US" sz="1200" dirty="0"/>
          </a:p>
        </p:txBody>
      </p:sp>
      <p:sp>
        <p:nvSpPr>
          <p:cNvPr id="11" name="Text 9"/>
          <p:cNvSpPr/>
          <p:nvPr/>
        </p:nvSpPr>
        <p:spPr>
          <a:xfrm>
            <a:off x="6492240" y="2560320"/>
            <a:ext cx="4572000" cy="960120"/>
          </a:xfrm>
          <a:prstGeom prst="rect">
            <a:avLst/>
          </a:prstGeom>
          <a:noFill/>
          <a:ln/>
        </p:spPr>
        <p:txBody>
          <a:bodyPr wrap="square" lIns="0" tIns="0" rIns="0" bIns="0" rtlCol="0" anchor="ctr"/>
          <a:lstStyle/>
          <a:p>
            <a:pPr indent="0" marL="0">
              <a:lnSpc>
                <a:spcPts val="1900"/>
              </a:lnSpc>
              <a:buNone/>
            </a:pPr>
            <a:r>
              <a:rPr lang="en-US" sz="1300" dirty="0">
                <a:solidFill>
                  <a:srgbClr val="0D3143"/>
                </a:solidFill>
                <a:latin typeface="Calibri" pitchFamily="34" charset="0"/>
                <a:ea typeface="Calibri" pitchFamily="34" charset="-122"/>
                <a:cs typeface="Calibri" pitchFamily="34" charset="-120"/>
              </a:rPr>
              <a:t>Antes de cada entrega, cada 30 días en operación y cada 6 meses contra el Directorio Nacional de MinSalud.</a:t>
            </a:r>
            <a:endParaRPr lang="en-US" sz="1300" dirty="0"/>
          </a:p>
        </p:txBody>
      </p:sp>
      <p:sp>
        <p:nvSpPr>
          <p:cNvPr id="12" name="Shape 10"/>
          <p:cNvSpPr/>
          <p:nvPr/>
        </p:nvSpPr>
        <p:spPr>
          <a:xfrm>
            <a:off x="868680" y="3931920"/>
            <a:ext cx="5074920" cy="1645920"/>
          </a:xfrm>
          <a:prstGeom prst="roundRect">
            <a:avLst>
              <a:gd name="adj" fmla="val 4444"/>
            </a:avLst>
          </a:prstGeom>
          <a:solidFill>
            <a:srgbClr val="FFFFFF"/>
          </a:solidFill>
          <a:ln w="12700">
            <a:solidFill>
              <a:srgbClr val="DCE5E7"/>
            </a:solidFill>
            <a:prstDash val="solid"/>
          </a:ln>
        </p:spPr>
      </p:sp>
      <p:sp>
        <p:nvSpPr>
          <p:cNvPr id="13" name="Shape 11"/>
          <p:cNvSpPr/>
          <p:nvPr/>
        </p:nvSpPr>
        <p:spPr>
          <a:xfrm>
            <a:off x="868680" y="3931920"/>
            <a:ext cx="73152" cy="1645920"/>
          </a:xfrm>
          <a:prstGeom prst="rect">
            <a:avLst/>
          </a:prstGeom>
          <a:solidFill>
            <a:srgbClr val="E8B53F"/>
          </a:solidFill>
          <a:ln/>
        </p:spPr>
      </p:sp>
      <p:sp>
        <p:nvSpPr>
          <p:cNvPr id="14" name="Text 12"/>
          <p:cNvSpPr/>
          <p:nvPr/>
        </p:nvSpPr>
        <p:spPr>
          <a:xfrm>
            <a:off x="1143000" y="4114800"/>
            <a:ext cx="4572000" cy="292608"/>
          </a:xfrm>
          <a:prstGeom prst="rect">
            <a:avLst/>
          </a:prstGeom>
          <a:noFill/>
          <a:ln/>
        </p:spPr>
        <p:txBody>
          <a:bodyPr wrap="square" lIns="0" tIns="0" rIns="0" bIns="0" rtlCol="0" anchor="ctr"/>
          <a:lstStyle/>
          <a:p>
            <a:pPr indent="0" marL="0">
              <a:buNone/>
            </a:pPr>
            <a:r>
              <a:rPr lang="en-US" sz="1200" b="1" spc="180" kern="0" dirty="0">
                <a:solidFill>
                  <a:srgbClr val="E8B53F"/>
                </a:solidFill>
                <a:latin typeface="Calibri" pitchFamily="34" charset="0"/>
                <a:ea typeface="Calibri" pitchFamily="34" charset="-122"/>
                <a:cs typeface="Calibri" pitchFamily="34" charset="-120"/>
              </a:rPr>
              <a:t>CÓMO REPORTAR</a:t>
            </a:r>
            <a:endParaRPr lang="en-US" sz="1200" dirty="0"/>
          </a:p>
        </p:txBody>
      </p:sp>
      <p:sp>
        <p:nvSpPr>
          <p:cNvPr id="15" name="Text 13"/>
          <p:cNvSpPr/>
          <p:nvPr/>
        </p:nvSpPr>
        <p:spPr>
          <a:xfrm>
            <a:off x="1143000" y="4480560"/>
            <a:ext cx="4572000" cy="960120"/>
          </a:xfrm>
          <a:prstGeom prst="rect">
            <a:avLst/>
          </a:prstGeom>
          <a:noFill/>
          <a:ln/>
        </p:spPr>
        <p:txBody>
          <a:bodyPr wrap="square" lIns="0" tIns="0" rIns="0" bIns="0" rtlCol="0" anchor="ctr"/>
          <a:lstStyle/>
          <a:p>
            <a:pPr indent="0" marL="0">
              <a:lnSpc>
                <a:spcPts val="1900"/>
              </a:lnSpc>
              <a:buNone/>
            </a:pPr>
            <a:r>
              <a:rPr lang="en-US" sz="1300" dirty="0">
                <a:solidFill>
                  <a:srgbClr val="0D3143"/>
                </a:solidFill>
                <a:latin typeface="Calibri" pitchFamily="34" charset="0"/>
                <a:ea typeface="Calibri" pitchFamily="34" charset="-122"/>
                <a:cs typeface="Calibri" pitchFamily="34" charset="-120"/>
              </a:rPr>
              <a:t>Correo, repositorio o en el stand. Acuse en 24 h, verificación en 48 h, retirada inmediata si no se confirma.</a:t>
            </a:r>
            <a:endParaRPr lang="en-US" sz="1300" dirty="0"/>
          </a:p>
        </p:txBody>
      </p:sp>
      <p:sp>
        <p:nvSpPr>
          <p:cNvPr id="16" name="Shape 14"/>
          <p:cNvSpPr/>
          <p:nvPr/>
        </p:nvSpPr>
        <p:spPr>
          <a:xfrm>
            <a:off x="6217920" y="3931920"/>
            <a:ext cx="5074920" cy="1645920"/>
          </a:xfrm>
          <a:prstGeom prst="roundRect">
            <a:avLst>
              <a:gd name="adj" fmla="val 4444"/>
            </a:avLst>
          </a:prstGeom>
          <a:solidFill>
            <a:srgbClr val="FFFFFF"/>
          </a:solidFill>
          <a:ln w="12700">
            <a:solidFill>
              <a:srgbClr val="DCE5E7"/>
            </a:solidFill>
            <a:prstDash val="solid"/>
          </a:ln>
        </p:spPr>
      </p:sp>
      <p:sp>
        <p:nvSpPr>
          <p:cNvPr id="17" name="Shape 15"/>
          <p:cNvSpPr/>
          <p:nvPr/>
        </p:nvSpPr>
        <p:spPr>
          <a:xfrm>
            <a:off x="6217920" y="3931920"/>
            <a:ext cx="73152" cy="1645920"/>
          </a:xfrm>
          <a:prstGeom prst="rect">
            <a:avLst/>
          </a:prstGeom>
          <a:solidFill>
            <a:srgbClr val="E2574C"/>
          </a:solidFill>
          <a:ln/>
        </p:spPr>
      </p:sp>
      <p:sp>
        <p:nvSpPr>
          <p:cNvPr id="18" name="Text 16"/>
          <p:cNvSpPr/>
          <p:nvPr/>
        </p:nvSpPr>
        <p:spPr>
          <a:xfrm>
            <a:off x="6492240" y="4114800"/>
            <a:ext cx="4572000" cy="292608"/>
          </a:xfrm>
          <a:prstGeom prst="rect">
            <a:avLst/>
          </a:prstGeom>
          <a:noFill/>
          <a:ln/>
        </p:spPr>
        <p:txBody>
          <a:bodyPr wrap="square" lIns="0" tIns="0" rIns="0" bIns="0" rtlCol="0" anchor="ctr"/>
          <a:lstStyle/>
          <a:p>
            <a:pPr indent="0" marL="0">
              <a:buNone/>
            </a:pPr>
            <a:r>
              <a:rPr lang="en-US" sz="1200" b="1" spc="180" kern="0" dirty="0">
                <a:solidFill>
                  <a:srgbClr val="E2574C"/>
                </a:solidFill>
                <a:latin typeface="Calibri" pitchFamily="34" charset="0"/>
                <a:ea typeface="Calibri" pitchFamily="34" charset="-122"/>
                <a:cs typeface="Calibri" pitchFamily="34" charset="-120"/>
              </a:rPr>
              <a:t>QUÉ PASA SI FALLA</a:t>
            </a:r>
            <a:endParaRPr lang="en-US" sz="1200" dirty="0"/>
          </a:p>
        </p:txBody>
      </p:sp>
      <p:sp>
        <p:nvSpPr>
          <p:cNvPr id="19" name="Text 17"/>
          <p:cNvSpPr/>
          <p:nvPr/>
        </p:nvSpPr>
        <p:spPr>
          <a:xfrm>
            <a:off x="6492240" y="4480560"/>
            <a:ext cx="4572000" cy="960120"/>
          </a:xfrm>
          <a:prstGeom prst="rect">
            <a:avLst/>
          </a:prstGeom>
          <a:noFill/>
          <a:ln/>
        </p:spPr>
        <p:txBody>
          <a:bodyPr wrap="square" lIns="0" tIns="0" rIns="0" bIns="0" rtlCol="0" anchor="ctr"/>
          <a:lstStyle/>
          <a:p>
            <a:pPr indent="0" marL="0">
              <a:lnSpc>
                <a:spcPts val="1900"/>
              </a:lnSpc>
              <a:buNone/>
            </a:pPr>
            <a:r>
              <a:rPr lang="en-US" sz="1300" dirty="0">
                <a:solidFill>
                  <a:srgbClr val="0D3143"/>
                </a:solidFill>
                <a:latin typeface="Calibri" pitchFamily="34" charset="0"/>
                <a:ea typeface="Calibri" pitchFamily="34" charset="-122"/>
                <a:cs typeface="Calibri" pitchFamily="34" charset="-120"/>
              </a:rPr>
              <a:t>Se retira primero y se decide después. Nunca queda un número dudoso en pantalla.</a:t>
            </a:r>
            <a:endParaRPr lang="en-US" sz="1300" dirty="0"/>
          </a:p>
        </p:txBody>
      </p:sp>
      <p:sp>
        <p:nvSpPr>
          <p:cNvPr id="20" name="Shape 18"/>
          <p:cNvSpPr/>
          <p:nvPr/>
        </p:nvSpPr>
        <p:spPr>
          <a:xfrm>
            <a:off x="0" y="6729984"/>
            <a:ext cx="12191695" cy="128016"/>
          </a:xfrm>
          <a:prstGeom prst="rect">
            <a:avLst/>
          </a:prstGeom>
          <a:solidFill>
            <a:srgbClr val="3F7FBF"/>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3143"/>
        </a:solidFill>
      </p:bgPr>
    </p:bg>
    <p:spTree>
      <p:nvGrpSpPr>
        <p:cNvPr id="1" name=""/>
        <p:cNvGrpSpPr/>
        <p:nvPr/>
      </p:nvGrpSpPr>
      <p:grpSpPr>
        <a:xfrm>
          <a:off x="0" y="0"/>
          <a:ext cx="0" cy="0"/>
          <a:chOff x="0" y="0"/>
          <a:chExt cx="0" cy="0"/>
        </a:xfrm>
      </p:grpSpPr>
      <p:sp>
        <p:nvSpPr>
          <p:cNvPr id="2" name="Text 0"/>
          <p:cNvSpPr/>
          <p:nvPr/>
        </p:nvSpPr>
        <p:spPr>
          <a:xfrm>
            <a:off x="822960" y="777240"/>
            <a:ext cx="10515600" cy="310896"/>
          </a:xfrm>
          <a:prstGeom prst="rect">
            <a:avLst/>
          </a:prstGeom>
          <a:noFill/>
          <a:ln/>
        </p:spPr>
        <p:txBody>
          <a:bodyPr wrap="square" lIns="0" tIns="0" rIns="0" bIns="0" rtlCol="0" anchor="ctr"/>
          <a:lstStyle/>
          <a:p>
            <a:pPr indent="0" marL="0">
              <a:buNone/>
            </a:pPr>
            <a:r>
              <a:rPr lang="en-US" sz="1200" b="1" spc="200" kern="0" dirty="0">
                <a:solidFill>
                  <a:srgbClr val="3FA89B"/>
                </a:solidFill>
                <a:latin typeface="Calibri" pitchFamily="34" charset="0"/>
                <a:ea typeface="Calibri" pitchFamily="34" charset="-122"/>
                <a:cs typeface="Calibri" pitchFamily="34" charset="-120"/>
              </a:rPr>
              <a:t>LÍMITES Y PEDIDO</a:t>
            </a:r>
            <a:endParaRPr lang="en-US" sz="1200" dirty="0"/>
          </a:p>
        </p:txBody>
      </p:sp>
      <p:sp>
        <p:nvSpPr>
          <p:cNvPr id="3" name="Text 1"/>
          <p:cNvSpPr/>
          <p:nvPr/>
        </p:nvSpPr>
        <p:spPr>
          <a:xfrm>
            <a:off x="868680" y="1417320"/>
            <a:ext cx="4937760" cy="457200"/>
          </a:xfrm>
          <a:prstGeom prst="rect">
            <a:avLst/>
          </a:prstGeom>
          <a:noFill/>
          <a:ln/>
        </p:spPr>
        <p:txBody>
          <a:bodyPr wrap="square" lIns="0" tIns="0" rIns="0" bIns="0" rtlCol="0" anchor="ctr"/>
          <a:lstStyle/>
          <a:p>
            <a:pPr indent="0" marL="0">
              <a:buNone/>
            </a:pPr>
            <a:r>
              <a:rPr lang="en-US" sz="2400" b="1" dirty="0">
                <a:solidFill>
                  <a:srgbClr val="E8B53F"/>
                </a:solidFill>
                <a:latin typeface="Calibri" pitchFamily="34" charset="0"/>
                <a:ea typeface="Calibri" pitchFamily="34" charset="-122"/>
                <a:cs typeface="Calibri" pitchFamily="34" charset="-120"/>
              </a:rPr>
              <a:t>Lo que NO es</a:t>
            </a:r>
            <a:endParaRPr lang="en-US" sz="2400" dirty="0"/>
          </a:p>
        </p:txBody>
      </p:sp>
      <p:sp>
        <p:nvSpPr>
          <p:cNvPr id="4" name="Text 2"/>
          <p:cNvSpPr/>
          <p:nvPr/>
        </p:nvSpPr>
        <p:spPr>
          <a:xfrm>
            <a:off x="868680" y="2011680"/>
            <a:ext cx="4937760" cy="2560320"/>
          </a:xfrm>
          <a:prstGeom prst="rect">
            <a:avLst/>
          </a:prstGeom>
          <a:noFill/>
          <a:ln/>
        </p:spPr>
        <p:txBody>
          <a:bodyPr wrap="square" lIns="0" tIns="0" rIns="0" bIns="0" rtlCol="0" anchor="ctr"/>
          <a:lstStyle/>
          <a:p>
            <a:pPr marL="228600" indent="-228600">
              <a:lnSpc>
                <a:spcPts val="3000"/>
              </a:lnSpc>
              <a:spcAft>
                <a:spcPts val="800"/>
              </a:spcAft>
              <a:buSzPct val="100000"/>
              <a:buChar char="•"/>
            </a:pPr>
            <a:r>
              <a:rPr lang="en-US" sz="1700" dirty="0">
                <a:solidFill>
                  <a:srgbClr val="C5DAE2"/>
                </a:solidFill>
                <a:latin typeface="Calibri" pitchFamily="34" charset="0"/>
                <a:ea typeface="Calibri" pitchFamily="34" charset="-122"/>
                <a:cs typeface="Calibri" pitchFamily="34" charset="-120"/>
              </a:rPr>
              <a:t>No diagnostica.</a:t>
            </a:r>
            <a:endParaRPr lang="en-US" sz="1700" dirty="0"/>
          </a:p>
          <a:p>
            <a:pPr marL="228600" indent="-228600">
              <a:lnSpc>
                <a:spcPts val="3000"/>
              </a:lnSpc>
              <a:spcAft>
                <a:spcPts val="800"/>
              </a:spcAft>
              <a:buSzPct val="100000"/>
              <a:buChar char="•"/>
            </a:pPr>
            <a:r>
              <a:rPr lang="en-US" sz="1700" dirty="0">
                <a:solidFill>
                  <a:srgbClr val="C5DAE2"/>
                </a:solidFill>
                <a:latin typeface="Calibri" pitchFamily="34" charset="0"/>
                <a:ea typeface="Calibri" pitchFamily="34" charset="-122"/>
                <a:cs typeface="Calibri" pitchFamily="34" charset="-120"/>
              </a:rPr>
              <a:t>No trata.</a:t>
            </a:r>
            <a:endParaRPr lang="en-US" sz="1700" dirty="0"/>
          </a:p>
          <a:p>
            <a:pPr marL="228600" indent="-228600">
              <a:lnSpc>
                <a:spcPts val="3000"/>
              </a:lnSpc>
              <a:spcAft>
                <a:spcPts val="800"/>
              </a:spcAft>
              <a:buSzPct val="100000"/>
              <a:buChar char="•"/>
            </a:pPr>
            <a:r>
              <a:rPr lang="en-US" sz="1700" dirty="0">
                <a:solidFill>
                  <a:srgbClr val="C5DAE2"/>
                </a:solidFill>
                <a:latin typeface="Calibri" pitchFamily="34" charset="0"/>
                <a:ea typeface="Calibri" pitchFamily="34" charset="-122"/>
                <a:cs typeface="Calibri" pitchFamily="34" charset="-120"/>
              </a:rPr>
              <a:t>No sustituye la atención profesional.</a:t>
            </a:r>
            <a:endParaRPr lang="en-US" sz="1700" dirty="0"/>
          </a:p>
          <a:p>
            <a:pPr marL="228600" indent="-228600">
              <a:lnSpc>
                <a:spcPts val="3000"/>
              </a:lnSpc>
              <a:spcAft>
                <a:spcPts val="800"/>
              </a:spcAft>
              <a:buSzPct val="100000"/>
              <a:buChar char="•"/>
            </a:pPr>
            <a:r>
              <a:rPr lang="en-US" sz="1700" dirty="0">
                <a:solidFill>
                  <a:srgbClr val="C5DAE2"/>
                </a:solidFill>
                <a:latin typeface="Calibri" pitchFamily="34" charset="0"/>
                <a:ea typeface="Calibri" pitchFamily="34" charset="-122"/>
                <a:cs typeface="Calibri" pitchFamily="34" charset="-120"/>
              </a:rPr>
              <a:t>No gestiona emergencias.</a:t>
            </a:r>
            <a:endParaRPr lang="en-US" sz="1700" dirty="0"/>
          </a:p>
          <a:p>
            <a:pPr marL="228600" indent="-228600">
              <a:lnSpc>
                <a:spcPts val="3000"/>
              </a:lnSpc>
              <a:spcAft>
                <a:spcPts val="800"/>
              </a:spcAft>
              <a:buSzPct val="100000"/>
              <a:buChar char="•"/>
            </a:pPr>
            <a:r>
              <a:rPr lang="en-US" sz="1700" dirty="0">
                <a:solidFill>
                  <a:srgbClr val="C5DAE2"/>
                </a:solidFill>
                <a:latin typeface="Calibri" pitchFamily="34" charset="0"/>
                <a:ea typeface="Calibri" pitchFamily="34" charset="-122"/>
                <a:cs typeface="Calibri" pitchFamily="34" charset="-120"/>
              </a:rPr>
              <a:t>No es un servicio operativo: es TRL 4.</a:t>
            </a:r>
            <a:endParaRPr lang="en-US" sz="1700" dirty="0"/>
          </a:p>
        </p:txBody>
      </p:sp>
      <p:sp>
        <p:nvSpPr>
          <p:cNvPr id="5" name="Shape 3"/>
          <p:cNvSpPr/>
          <p:nvPr/>
        </p:nvSpPr>
        <p:spPr>
          <a:xfrm>
            <a:off x="6172200" y="1463040"/>
            <a:ext cx="0" cy="3200400"/>
          </a:xfrm>
          <a:prstGeom prst="line">
            <a:avLst/>
          </a:prstGeom>
          <a:noFill/>
          <a:ln w="19050">
            <a:solidFill>
              <a:srgbClr val="2A5C74"/>
            </a:solidFill>
            <a:prstDash val="solid"/>
          </a:ln>
        </p:spPr>
      </p:sp>
      <p:sp>
        <p:nvSpPr>
          <p:cNvPr id="6" name="Text 4"/>
          <p:cNvSpPr/>
          <p:nvPr/>
        </p:nvSpPr>
        <p:spPr>
          <a:xfrm>
            <a:off x="6629400" y="1417320"/>
            <a:ext cx="4754880" cy="457200"/>
          </a:xfrm>
          <a:prstGeom prst="rect">
            <a:avLst/>
          </a:prstGeom>
          <a:noFill/>
          <a:ln/>
        </p:spPr>
        <p:txBody>
          <a:bodyPr wrap="square" lIns="0" tIns="0" rIns="0" bIns="0" rtlCol="0" anchor="ctr"/>
          <a:lstStyle/>
          <a:p>
            <a:pPr indent="0" marL="0">
              <a:buNone/>
            </a:pPr>
            <a:r>
              <a:rPr lang="en-US" sz="2400" b="1" dirty="0">
                <a:solidFill>
                  <a:srgbClr val="3FA89B"/>
                </a:solidFill>
                <a:latin typeface="Calibri" pitchFamily="34" charset="0"/>
                <a:ea typeface="Calibri" pitchFamily="34" charset="-122"/>
                <a:cs typeface="Calibri" pitchFamily="34" charset="-120"/>
              </a:rPr>
              <a:t>Lo que PEDIMOS</a:t>
            </a:r>
            <a:endParaRPr lang="en-US" sz="2400" dirty="0"/>
          </a:p>
        </p:txBody>
      </p:sp>
      <p:sp>
        <p:nvSpPr>
          <p:cNvPr id="7" name="Text 5"/>
          <p:cNvSpPr/>
          <p:nvPr/>
        </p:nvSpPr>
        <p:spPr>
          <a:xfrm>
            <a:off x="6629400" y="2011680"/>
            <a:ext cx="4754880" cy="2560320"/>
          </a:xfrm>
          <a:prstGeom prst="rect">
            <a:avLst/>
          </a:prstGeom>
          <a:noFill/>
          <a:ln/>
        </p:spPr>
        <p:txBody>
          <a:bodyPr wrap="square" lIns="0" tIns="0" rIns="0" bIns="0" rtlCol="0" anchor="ctr"/>
          <a:lstStyle/>
          <a:p>
            <a:pPr marL="228600" indent="-228600">
              <a:lnSpc>
                <a:spcPts val="3000"/>
              </a:lnSpc>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Validación de la lista de líneas por la Secretaría de Salud del Meta y la Alcaldía.</a:t>
            </a:r>
            <a:endParaRPr lang="en-US" sz="1700" dirty="0"/>
          </a:p>
          <a:p>
            <a:pPr marL="228600" indent="-228600">
              <a:lnSpc>
                <a:spcPts val="3000"/>
              </a:lnSpc>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Un responsable de contenido con la doble firma del plan.</a:t>
            </a:r>
            <a:endParaRPr lang="en-US" sz="1700" dirty="0"/>
          </a:p>
          <a:p>
            <a:pPr marL="228600" indent="-228600">
              <a:lnSpc>
                <a:spcPts val="3000"/>
              </a:lnSpc>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Revisión conjunta cada 30 días.</a:t>
            </a:r>
            <a:endParaRPr lang="en-US" sz="1700" dirty="0"/>
          </a:p>
        </p:txBody>
      </p:sp>
      <p:sp>
        <p:nvSpPr>
          <p:cNvPr id="8" name="Shape 6"/>
          <p:cNvSpPr/>
          <p:nvPr/>
        </p:nvSpPr>
        <p:spPr>
          <a:xfrm>
            <a:off x="868680" y="4846320"/>
            <a:ext cx="10515600" cy="868680"/>
          </a:xfrm>
          <a:prstGeom prst="roundRect">
            <a:avLst>
              <a:gd name="adj" fmla="val 8421"/>
            </a:avLst>
          </a:prstGeom>
          <a:solidFill>
            <a:srgbClr val="14405A"/>
          </a:solidFill>
          <a:ln/>
        </p:spPr>
      </p:sp>
      <p:sp>
        <p:nvSpPr>
          <p:cNvPr id="9" name="Text 7"/>
          <p:cNvSpPr/>
          <p:nvPr/>
        </p:nvSpPr>
        <p:spPr>
          <a:xfrm>
            <a:off x="1188720" y="5084064"/>
            <a:ext cx="987552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Un producto de salud mental no se sostiene con la energía de un hackathon: necesita dueños.</a:t>
            </a:r>
            <a:endParaRPr lang="en-US" sz="1700" dirty="0"/>
          </a:p>
        </p:txBody>
      </p:sp>
      <p:sp>
        <p:nvSpPr>
          <p:cNvPr id="10" name="Shape 8"/>
          <p:cNvSpPr/>
          <p:nvPr/>
        </p:nvSpPr>
        <p:spPr>
          <a:xfrm>
            <a:off x="0" y="6729984"/>
            <a:ext cx="12191695" cy="128016"/>
          </a:xfrm>
          <a:prstGeom prst="rect">
            <a:avLst/>
          </a:prstGeom>
          <a:solidFill>
            <a:srgbClr val="3FA89B"/>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3143"/>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3FA89B"/>
          </a:solidFill>
          <a:ln/>
        </p:spPr>
      </p:sp>
      <p:sp>
        <p:nvSpPr>
          <p:cNvPr id="3" name="Text 1"/>
          <p:cNvSpPr/>
          <p:nvPr/>
        </p:nvSpPr>
        <p:spPr>
          <a:xfrm>
            <a:off x="1005840" y="2057400"/>
            <a:ext cx="10058400" cy="1371600"/>
          </a:xfrm>
          <a:prstGeom prst="rect">
            <a:avLst/>
          </a:prstGeom>
          <a:noFill/>
          <a:ln/>
        </p:spPr>
        <p:txBody>
          <a:bodyPr wrap="square" lIns="0" tIns="0" rIns="0" bIns="0" rtlCol="0" anchor="ctr"/>
          <a:lstStyle/>
          <a:p>
            <a:pPr indent="0" marL="0">
              <a:lnSpc>
                <a:spcPts val="4400"/>
              </a:lnSpc>
              <a:buNone/>
            </a:pPr>
            <a:r>
              <a:rPr lang="en-US" sz="3200" dirty="0">
                <a:solidFill>
                  <a:srgbClr val="9FBECB"/>
                </a:solidFill>
                <a:latin typeface="Calibri" pitchFamily="34" charset="0"/>
                <a:ea typeface="Calibri" pitchFamily="34" charset="-122"/>
                <a:cs typeface="Calibri" pitchFamily="34" charset="-120"/>
              </a:rPr>
              <a:t>No prometemos resolver la crisis</a:t>
            </a:r>
            <a:endParaRPr lang="en-US" sz="3200" dirty="0"/>
          </a:p>
          <a:p>
            <a:pPr indent="0" marL="0">
              <a:lnSpc>
                <a:spcPts val="4400"/>
              </a:lnSpc>
              <a:buNone/>
            </a:pPr>
            <a:r>
              <a:rPr lang="en-US" sz="3200" dirty="0">
                <a:solidFill>
                  <a:srgbClr val="9FBECB"/>
                </a:solidFill>
                <a:latin typeface="Calibri" pitchFamily="34" charset="0"/>
                <a:ea typeface="Calibri" pitchFamily="34" charset="-122"/>
                <a:cs typeface="Calibri" pitchFamily="34" charset="-120"/>
              </a:rPr>
              <a:t>de salud mental del Meta.</a:t>
            </a:r>
            <a:endParaRPr lang="en-US" sz="3200" dirty="0"/>
          </a:p>
        </p:txBody>
      </p:sp>
      <p:sp>
        <p:nvSpPr>
          <p:cNvPr id="4" name="Text 2"/>
          <p:cNvSpPr/>
          <p:nvPr/>
        </p:nvSpPr>
        <p:spPr>
          <a:xfrm>
            <a:off x="1005840" y="3611880"/>
            <a:ext cx="10058400" cy="457200"/>
          </a:xfrm>
          <a:prstGeom prst="rect">
            <a:avLst/>
          </a:prstGeom>
          <a:noFill/>
          <a:ln/>
        </p:spPr>
        <p:txBody>
          <a:bodyPr wrap="square" lIns="0" tIns="0" rIns="0" bIns="0" rtlCol="0" anchor="ctr"/>
          <a:lstStyle/>
          <a:p>
            <a:pPr indent="0" marL="0">
              <a:buNone/>
            </a:pPr>
            <a:r>
              <a:rPr lang="en-US" sz="2000" dirty="0">
                <a:solidFill>
                  <a:srgbClr val="3FA89B"/>
                </a:solidFill>
                <a:latin typeface="Calibri" pitchFamily="34" charset="0"/>
                <a:ea typeface="Calibri" pitchFamily="34" charset="-122"/>
                <a:cs typeface="Calibri" pitchFamily="34" charset="-120"/>
              </a:rPr>
              <a:t>Prometemos una sola cosa:</a:t>
            </a:r>
            <a:endParaRPr lang="en-US" sz="2000" dirty="0"/>
          </a:p>
        </p:txBody>
      </p:sp>
      <p:sp>
        <p:nvSpPr>
          <p:cNvPr id="5" name="Text 3"/>
          <p:cNvSpPr/>
          <p:nvPr/>
        </p:nvSpPr>
        <p:spPr>
          <a:xfrm>
            <a:off x="1005840" y="4069080"/>
            <a:ext cx="10058400" cy="1280160"/>
          </a:xfrm>
          <a:prstGeom prst="rect">
            <a:avLst/>
          </a:prstGeom>
          <a:noFill/>
          <a:ln/>
        </p:spPr>
        <p:txBody>
          <a:bodyPr wrap="square" lIns="0" tIns="0" rIns="0" bIns="0" rtlCol="0" anchor="ctr"/>
          <a:lstStyle/>
          <a:p>
            <a:pPr indent="0" marL="0">
              <a:lnSpc>
                <a:spcPts val="4600"/>
              </a:lnSpc>
              <a:buNone/>
            </a:pPr>
            <a:r>
              <a:rPr lang="en-US" sz="3400" b="1" dirty="0">
                <a:solidFill>
                  <a:srgbClr val="FFFFFF"/>
                </a:solidFill>
                <a:latin typeface="Calibri" pitchFamily="34" charset="0"/>
                <a:ea typeface="Calibri" pitchFamily="34" charset="-122"/>
                <a:cs typeface="Calibri" pitchFamily="34" charset="-120"/>
              </a:rPr>
              <a:t>que la puerta esté abierta y que</a:t>
            </a:r>
            <a:endParaRPr lang="en-US" sz="3400" dirty="0"/>
          </a:p>
          <a:p>
            <a:pPr indent="0" marL="0">
              <a:lnSpc>
                <a:spcPts val="4600"/>
              </a:lnSpc>
              <a:buNone/>
            </a:pPr>
            <a:r>
              <a:rPr lang="en-US" sz="3400" b="1" dirty="0">
                <a:solidFill>
                  <a:srgbClr val="FFFFFF"/>
                </a:solidFill>
                <a:latin typeface="Calibri" pitchFamily="34" charset="0"/>
                <a:ea typeface="Calibri" pitchFamily="34" charset="-122"/>
                <a:cs typeface="Calibri" pitchFamily="34" charset="-120"/>
              </a:rPr>
              <a:t>el número que marque sea el correcto.</a:t>
            </a:r>
            <a:endParaRPr lang="en-US" sz="3400" dirty="0"/>
          </a:p>
        </p:txBody>
      </p:sp>
      <p:sp>
        <p:nvSpPr>
          <p:cNvPr id="6" name="Text 4"/>
          <p:cNvSpPr/>
          <p:nvPr/>
        </p:nvSpPr>
        <p:spPr>
          <a:xfrm>
            <a:off x="1005840" y="5852160"/>
            <a:ext cx="10058400" cy="365760"/>
          </a:xfrm>
          <a:prstGeom prst="rect">
            <a:avLst/>
          </a:prstGeom>
          <a:noFill/>
          <a:ln/>
        </p:spPr>
        <p:txBody>
          <a:bodyPr wrap="square" lIns="0" tIns="0" rIns="0" bIns="0" rtlCol="0" anchor="ctr"/>
          <a:lstStyle/>
          <a:p>
            <a:pPr indent="0" marL="0">
              <a:buNone/>
            </a:pPr>
            <a:r>
              <a:rPr lang="en-US" sz="1300" dirty="0">
                <a:solidFill>
                  <a:srgbClr val="6E8E9B"/>
                </a:solidFill>
                <a:latin typeface="Calibri" pitchFamily="34" charset="0"/>
                <a:ea typeface="Calibri" pitchFamily="34" charset="-122"/>
                <a:cs typeface="Calibri" pitchFamily="34" charset="-120"/>
              </a:rPr>
              <a:t>Ruta Clara Meta  ·  Villavicencio, Meta  ·  Datos verificados a octubre de 2026</a:t>
            </a:r>
            <a:endParaRPr lang="en-US" sz="1300" dirty="0"/>
          </a:p>
        </p:txBody>
      </p:sp>
      <p:sp>
        <p:nvSpPr>
          <p:cNvPr id="7" name="Shape 5"/>
          <p:cNvSpPr/>
          <p:nvPr/>
        </p:nvSpPr>
        <p:spPr>
          <a:xfrm>
            <a:off x="0" y="6729984"/>
            <a:ext cx="12191695" cy="128016"/>
          </a:xfrm>
          <a:prstGeom prst="rect">
            <a:avLst/>
          </a:prstGeom>
          <a:solidFill>
            <a:srgbClr val="3FA89B"/>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6"/>
        </a:solidFill>
      </p:bgPr>
    </p:bg>
    <p:spTree>
      <p:nvGrpSpPr>
        <p:cNvPr id="1" name=""/>
        <p:cNvGrpSpPr/>
        <p:nvPr/>
      </p:nvGrpSpPr>
      <p:grpSpPr>
        <a:xfrm>
          <a:off x="0" y="0"/>
          <a:ext cx="0" cy="0"/>
          <a:chOff x="0" y="0"/>
          <a:chExt cx="0" cy="0"/>
        </a:xfrm>
      </p:grpSpPr>
      <p:sp>
        <p:nvSpPr>
          <p:cNvPr id="2" name="Text 0"/>
          <p:cNvSpPr/>
          <p:nvPr/>
        </p:nvSpPr>
        <p:spPr>
          <a:xfrm>
            <a:off x="822960" y="475488"/>
            <a:ext cx="10515600" cy="310896"/>
          </a:xfrm>
          <a:prstGeom prst="rect">
            <a:avLst/>
          </a:prstGeom>
          <a:noFill/>
          <a:ln/>
        </p:spPr>
        <p:txBody>
          <a:bodyPr wrap="square" lIns="0" tIns="0" rIns="0" bIns="0" rtlCol="0" anchor="ctr"/>
          <a:lstStyle/>
          <a:p>
            <a:pPr indent="0" marL="0">
              <a:buNone/>
            </a:pPr>
            <a:r>
              <a:rPr lang="en-US" sz="1200" b="1" spc="200" kern="0" dirty="0">
                <a:solidFill>
                  <a:srgbClr val="5B7080"/>
                </a:solidFill>
                <a:latin typeface="Calibri" pitchFamily="34" charset="0"/>
                <a:ea typeface="Calibri" pitchFamily="34" charset="-122"/>
                <a:cs typeface="Calibri" pitchFamily="34" charset="-120"/>
              </a:rPr>
              <a:t>RESPALDO</a:t>
            </a:r>
            <a:endParaRPr lang="en-US" sz="1200" dirty="0"/>
          </a:p>
        </p:txBody>
      </p:sp>
      <p:sp>
        <p:nvSpPr>
          <p:cNvPr id="3" name="Text 1"/>
          <p:cNvSpPr/>
          <p:nvPr/>
        </p:nvSpPr>
        <p:spPr>
          <a:xfrm>
            <a:off x="822960" y="822960"/>
            <a:ext cx="10515600" cy="914400"/>
          </a:xfrm>
          <a:prstGeom prst="rect">
            <a:avLst/>
          </a:prstGeom>
          <a:noFill/>
          <a:ln/>
        </p:spPr>
        <p:txBody>
          <a:bodyPr wrap="square" lIns="0" tIns="0" rIns="0" bIns="0" rtlCol="0" anchor="t"/>
          <a:lstStyle/>
          <a:p>
            <a:pPr indent="0" marL="0">
              <a:buNone/>
            </a:pPr>
            <a:r>
              <a:rPr lang="en-US" sz="2800" b="1" dirty="0">
                <a:solidFill>
                  <a:srgbClr val="0D3143"/>
                </a:solidFill>
                <a:latin typeface="Calibri" pitchFamily="34" charset="0"/>
                <a:ea typeface="Calibri" pitchFamily="34" charset="-122"/>
                <a:cs typeface="Calibri" pitchFamily="34" charset="-120"/>
              </a:rPr>
              <a:t>Documentación que acompaña al prototipo</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68680" y="1920240"/>
          <a:ext cx="10515600" cy="914400"/>
        </p:xfrm>
        <a:graphic>
          <a:graphicData uri="http://schemas.openxmlformats.org/drawingml/2006/table">
            <a:tbl>
              <a:tblPr/>
              <a:tblGrid>
                <a:gridCol w="3200400"/>
                <a:gridCol w="7315200"/>
              </a:tblGrid>
              <a:tr h="566928">
                <a:tc>
                  <a:txBody>
                    <a:bodyPr/>
                    <a:lstStyle/>
                    <a:p>
                      <a:pPr indent="0" marL="0">
                        <a:buNone/>
                      </a:pPr>
                      <a:r>
                        <a:rPr lang="en-US" sz="1300" b="1" dirty="0">
                          <a:solidFill>
                            <a:srgbClr val="0D3143"/>
                          </a:solidFill>
                          <a:latin typeface="Calibri" pitchFamily="34" charset="0"/>
                          <a:ea typeface="Calibri" pitchFamily="34" charset="-122"/>
                          <a:cs typeface="Calibri" pitchFamily="34" charset="-120"/>
                        </a:rPr>
                        <a:t>Documento</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300" b="1" dirty="0">
                          <a:solidFill>
                            <a:srgbClr val="0D3143"/>
                          </a:solidFill>
                          <a:latin typeface="Calibri" pitchFamily="34" charset="0"/>
                          <a:ea typeface="Calibri" pitchFamily="34" charset="-122"/>
                          <a:cs typeface="Calibri" pitchFamily="34" charset="-120"/>
                        </a:rPr>
                        <a:t>Qué responde</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D3143"/>
                          </a:solidFill>
                          <a:latin typeface="Calibri" pitchFamily="34" charset="0"/>
                          <a:ea typeface="Calibri" pitchFamily="34" charset="-122"/>
                          <a:cs typeface="Calibri" pitchFamily="34" charset="-120"/>
                        </a:rPr>
                        <a:t>PLAN_DE_OPERACION.md</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300" dirty="0">
                          <a:solidFill>
                            <a:srgbClr val="0D3143"/>
                          </a:solidFill>
                          <a:latin typeface="Calibri" pitchFamily="34" charset="0"/>
                          <a:ea typeface="Calibri" pitchFamily="34" charset="-122"/>
                          <a:cs typeface="Calibri" pitchFamily="34" charset="-120"/>
                        </a:rPr>
                        <a:t>Quién verifica, con qué frecuencia y cómo reportar un dato inactivo (SLA 24 h / 48 h)</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D3143"/>
                          </a:solidFill>
                          <a:latin typeface="Calibri" pitchFamily="34" charset="0"/>
                          <a:ea typeface="Calibri" pitchFamily="34" charset="-122"/>
                          <a:cs typeface="Calibri" pitchFamily="34" charset="-120"/>
                        </a:rPr>
                        <a:t>PRUEBAS.md</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300" dirty="0">
                          <a:solidFill>
                            <a:srgbClr val="0D3143"/>
                          </a:solidFill>
                          <a:latin typeface="Calibri" pitchFamily="34" charset="0"/>
                          <a:ea typeface="Calibri" pitchFamily="34" charset="-122"/>
                          <a:cs typeface="Calibri" pitchFamily="34" charset="-120"/>
                        </a:rPr>
                        <a:t>44 escenarios de prueba con datos sintéticos y registro de resultados</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D3143"/>
                          </a:solidFill>
                          <a:latin typeface="Calibri" pitchFamily="34" charset="0"/>
                          <a:ea typeface="Calibri" pitchFamily="34" charset="-122"/>
                          <a:cs typeface="Calibri" pitchFamily="34" charset="-120"/>
                        </a:rPr>
                        <a:t>TERCEROS_Y_LICENCIAS.md</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300" dirty="0">
                          <a:solidFill>
                            <a:srgbClr val="0D3143"/>
                          </a:solidFill>
                          <a:latin typeface="Calibri" pitchFamily="34" charset="0"/>
                          <a:ea typeface="Calibri" pitchFamily="34" charset="-122"/>
                          <a:cs typeface="Calibri" pitchFamily="34" charset="-120"/>
                        </a:rPr>
                        <a:t>207 paquetes con licencia declarada; 0 sin declarar; 0 binarios de terceros</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D3143"/>
                          </a:solidFill>
                          <a:latin typeface="Calibri" pitchFamily="34" charset="0"/>
                          <a:ea typeface="Calibri" pitchFamily="34" charset="-122"/>
                          <a:cs typeface="Calibri" pitchFamily="34" charset="-120"/>
                        </a:rPr>
                        <a:t>DECLARACION_DEL_EQUIPO.md</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300" dirty="0">
                          <a:solidFill>
                            <a:srgbClr val="0D3143"/>
                          </a:solidFill>
                          <a:latin typeface="Calibri" pitchFamily="34" charset="0"/>
                          <a:ea typeface="Calibri" pitchFamily="34" charset="-122"/>
                          <a:cs typeface="Calibri" pitchFamily="34" charset="-120"/>
                        </a:rPr>
                        <a:t>Autoría, terceros, origen de la información, privacidad y firmas</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D3143"/>
                          </a:solidFill>
                          <a:latin typeface="Calibri" pitchFamily="34" charset="0"/>
                          <a:ea typeface="Calibri" pitchFamily="34" charset="-122"/>
                          <a:cs typeface="Calibri" pitchFamily="34" charset="-120"/>
                        </a:rPr>
                        <a:t>LICENSE</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c>
                  <a:txBody>
                    <a:bodyPr/>
                    <a:lstStyle/>
                    <a:p>
                      <a:pPr indent="0" marL="0">
                        <a:buNone/>
                      </a:pPr>
                      <a:r>
                        <a:rPr lang="en-US" sz="1300" dirty="0">
                          <a:solidFill>
                            <a:srgbClr val="0D3143"/>
                          </a:solidFill>
                          <a:latin typeface="Calibri" pitchFamily="34" charset="0"/>
                          <a:ea typeface="Calibri" pitchFamily="34" charset="-122"/>
                          <a:cs typeface="Calibri" pitchFamily="34" charset="-120"/>
                        </a:rPr>
                        <a:t>UNLICENSED — todos los derechos reservados, con permiso de evaluación para el jurado</a:t>
                      </a:r>
                      <a:endParaRPr lang="en-US" sz="1300" dirty="0">
                        <a:latin typeface="Calibri" charset="0"/>
                        <a:ea typeface="Calibri" charset="0"/>
                        <a:cs typeface="Calibri" charset="0"/>
                      </a:endParaRPr>
                    </a:p>
                  </a:txBody>
                  <a:tcPr marL="73152" marR="73152" marT="73152" marB="73152">
                    <a:lnL w="6350" cap="flat" cmpd="sng" algn="ctr">
                      <a:solidFill>
                        <a:srgbClr val="DCE5E7"/>
                      </a:solidFill>
                      <a:prstDash val="solid"/>
                      <a:round/>
                      <a:headEnd type="none" w="med" len="med"/>
                      <a:tailEnd type="none" w="med" len="med"/>
                    </a:lnL>
                    <a:lnR w="6350" cap="flat" cmpd="sng" algn="ctr">
                      <a:solidFill>
                        <a:srgbClr val="DCE5E7"/>
                      </a:solidFill>
                      <a:prstDash val="solid"/>
                      <a:round/>
                      <a:headEnd type="none" w="med" len="med"/>
                      <a:tailEnd type="none" w="med" len="med"/>
                    </a:lnR>
                    <a:lnT w="6350" cap="flat" cmpd="sng" algn="ctr">
                      <a:solidFill>
                        <a:srgbClr val="DCE5E7"/>
                      </a:solidFill>
                      <a:prstDash val="solid"/>
                      <a:round/>
                      <a:headEnd type="none" w="med" len="med"/>
                      <a:tailEnd type="none" w="med" len="med"/>
                    </a:lnT>
                    <a:lnB w="6350" cap="flat" cmpd="sng" algn="ctr">
                      <a:solidFill>
                        <a:srgbClr val="DCE5E7"/>
                      </a:solidFill>
                      <a:prstDash val="solid"/>
                      <a:round/>
                      <a:headEnd type="none" w="med" len="med"/>
                      <a:tailEnd type="none" w="med" len="med"/>
                    </a:lnB>
                    <a:solidFill>
                      <a:srgbClr val="FFFFFF"/>
                    </a:solidFill>
                  </a:tcPr>
                </a:tc>
              </a:tr>
            </a:tbl>
          </a:graphicData>
        </a:graphic>
      </p:graphicFrame>
      <p:sp>
        <p:nvSpPr>
          <p:cNvPr id="5" name="Text 2"/>
          <p:cNvSpPr/>
          <p:nvPr/>
        </p:nvSpPr>
        <p:spPr>
          <a:xfrm>
            <a:off x="868680" y="5440680"/>
            <a:ext cx="10515600" cy="640080"/>
          </a:xfrm>
          <a:prstGeom prst="rect">
            <a:avLst/>
          </a:prstGeom>
          <a:noFill/>
          <a:ln/>
        </p:spPr>
        <p:txBody>
          <a:bodyPr wrap="square" lIns="0" tIns="0" rIns="0" bIns="0" rtlCol="0" anchor="ctr"/>
          <a:lstStyle/>
          <a:p>
            <a:pPr indent="0" marL="0">
              <a:lnSpc>
                <a:spcPts val="1900"/>
              </a:lnSpc>
              <a:buNone/>
            </a:pPr>
            <a:r>
              <a:rPr lang="en-US" sz="1250" i="1" dirty="0">
                <a:solidFill>
                  <a:srgbClr val="5B7080"/>
                </a:solidFill>
                <a:latin typeface="Calibri" pitchFamily="34" charset="0"/>
                <a:ea typeface="Calibri" pitchFamily="34" charset="-122"/>
                <a:cs typeface="Calibri" pitchFamily="34" charset="-120"/>
              </a:rPr>
              <a:t>Este espacio acompaña, pero no reemplaza la atención profesional. No diagnostica,</a:t>
            </a:r>
            <a:endParaRPr lang="en-US" sz="1250" dirty="0"/>
          </a:p>
          <a:p>
            <a:pPr indent="0" marL="0">
              <a:lnSpc>
                <a:spcPts val="1900"/>
              </a:lnSpc>
              <a:buNone/>
            </a:pPr>
            <a:r>
              <a:rPr lang="en-US" sz="1250" i="1" dirty="0">
                <a:solidFill>
                  <a:srgbClr val="5B7080"/>
                </a:solidFill>
                <a:latin typeface="Calibri" pitchFamily="34" charset="0"/>
                <a:ea typeface="Calibri" pitchFamily="34" charset="-122"/>
                <a:cs typeface="Calibri" pitchFamily="34" charset="-120"/>
              </a:rPr>
              <a:t>no predice riesgos y no almacena información sensible.</a:t>
            </a:r>
            <a:endParaRPr lang="en-US" sz="1250" dirty="0"/>
          </a:p>
        </p:txBody>
      </p:sp>
      <p:sp>
        <p:nvSpPr>
          <p:cNvPr id="6" name="Shape 3"/>
          <p:cNvSpPr/>
          <p:nvPr/>
        </p:nvSpPr>
        <p:spPr>
          <a:xfrm>
            <a:off x="0" y="6729984"/>
            <a:ext cx="12191695" cy="128016"/>
          </a:xfrm>
          <a:prstGeom prst="rect">
            <a:avLst/>
          </a:prstGeom>
          <a:solidFill>
            <a:srgbClr val="5B708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Ruta Clara Meta</dc:title>
  <dc:subject>Pitch de 5 minutos — Hackatón Villavicencio</dc:subject>
  <dc:creator>Equipo Ruta Clara Meta</dc:creator>
  <cp:lastModifiedBy>Equipo Ruta Clara Meta</cp:lastModifiedBy>
  <cp:revision>1</cp:revision>
  <dcterms:created xsi:type="dcterms:W3CDTF">2026-10-22T20:20:20Z</dcterms:created>
  <dcterms:modified xsi:type="dcterms:W3CDTF">2026-10-22T20:20:20Z</dcterms:modified>
</cp:coreProperties>
</file>